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9cef080a-d454-7738-a567-e6cd9feb28c8}">
          <p14:sldIdLst>
            <p14:sldId id="256"/>
            <p14:sldId id="257"/>
          </p14:sldIdLst>
        </p14:section>
        <p14:section name="Producto" id="{a134d320-fbed-f38b-135a-fb94e24c44da}">
          <p14:sldIdLst>
            <p14:sldId id="258"/>
            <p14:sldId id="259"/>
            <p14:sldId id="260"/>
          </p14:sldIdLst>
        </p14:section>
        <p14:section name="Tecnología" id="{2e9de1d8-aa4f-2420-bea0-36559465b84b}">
          <p14:sldIdLst>
            <p14:sldId id="261"/>
            <p14:sldId id="262"/>
            <p14:sldId id="263"/>
          </p14:sldIdLst>
        </p14:section>
        <p14:section name="Demostración" id="{2fa779b0-5bc7-091d-49a5-23a859c9b880}">
          <p14:sldIdLst>
            <p14:sldId id="264"/>
          </p14:sldIdLst>
        </p14:section>
        <p14:section name="Cierre" id="{f6cbad3d-7857-470c-e443-d0be7d9fe393}">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NICOLÁS (≈15 s) y DANIEL (≈15 s).
Nicolás: saluda y presenta a los dos y dice que es el proyecto de Despliegue Web.
Daniel: en una frase, qué es ConectaPro (conecta a personas que necesitan un técnico del hogar con profesionales independientes de Asunción) y anticipa el recorrido: problema, solución, con qué lo construimos, cómo funciona y demostración.
Detalle: la captura es la pantalla real de inicio de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NICOLÁS (≈30 s) y DANIEL (≈20 s).
Nicolás (columna izquierda, quien busca): cuando se rompe una canilla o falla la luz, mucha gente depende del boca a boca o de buscar en redes sociales. Cuesta comparar opciones y saber en quién confiar. Transición: «Y del otro lado también hay un problema. Daniel…»
Daniel (columna derecha, quien ofrece el servicio): un electricista o un plomero que trabaja solo tiene poca visibilidad y pocos canales digitales para conseguir clientes. Transición: «Entonces pensamos en un lugar donde los dos se encuentren. Nico, ¿cómo funciona?»
Nota: son los problemas que identificamos en el proyecto, no un estudio de mercado; por eso no mostramos estadísticas.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DANIEL (≈15 s) y NICOLÁS (≈25 s).
Daniel: entonces ConectaPro es un lugar donde buscás, comparás y pedís un servicio en tres pasos. Detrás de la pantalla hay un servidor que guarda los profesionales y recibe los pedidos, pero eso lo vemos más adelante. Transición: «Nico, mostrales cómo se usa.»
Nicolás: la idea es un recorrido simple. Buscás el servicio que necesitás y tu barrio; comparás profesionales; y le pedís el trabajo a uno. Esa pantalla es la real: la diseñé para que se entienda sin explicaciones.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DANIEL (≈15 s) y NICOLÁS (≈30 s).
Daniel: lo primero que ve la persona es un directorio. Esos profesionales son perfiles de ejemplo que cargamos en la base de datos para poder probar: 100 profesionales, 7 oficios y 10 barrios, con valoraciones también de ejemplo. El navegador se los pide al servidor. Transición: «Nico, mostrales cómo se ve.»
Nicolás: a la izquierda, el directorio: cada profesional muestra su nombre, oficio, barrio y una valoración. A la derecha, al elegir un servicio —por ejemplo Plomería— la lista se acota; también se puede filtrar por barrio, y hay un botón para quitar los filtros. Siempre se muestra algo claro: cargando, sin resultados o un aviso si no hay conexión.
Detalle técnico (solo si preguntan): el filtro por servicio lo resuelve la API con un parámetro; el filtro por barrio se aplica en el navegador sobre la lista recibida (decisión de simplicidad del MVP; la API también lo admite pero el frontend no lo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NICOLÁS (≈30 s) y DANIEL (≈25 s).
Nicolás: este es el formulario que se abre al elegir «Solicitar servicio». Pide pocos datos: nombre, teléfono, barrio y qué necesitás. Por privacidad pedimos solo el barrio, no la dirección. Si algo está mal o falta, la pantalla lo marca y explica qué corregir. Transición: «Daniel, ¿qué pasa cuando la persona aprieta Enviar?»
Daniel: el servidor vuelve a revisar todos los datos, porque no podemos confiar solo en el navegador. Si están bien, guarda la solicitud en la base de datos como pendiente y le avisa a la interfaz; recién ahí la persona ve la confirmación con un número de solicitud.
Detalle técnico (solo si preguntan): validación en el navegador y definitiva en Laravel; los errores vuelven con HTTP 422 y un mensaje por campo; una solicitud aceptada responde HTTP 201 y la interfaz solo confirma con esa respuesta; el cliente no puede forzar el estado: el servidor lo fija en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NICOLÁS (≈35 s) y DANIEL (≈40 s).
Nicolás: para construir ConectaPro usamos herramientas con funciones distintas. Escribimos el código en Visual Studio Code. Git registra versiones e historial de cambios y GitHub es el repositorio compartido donde trabajamos los dos, con ramas y revisión del trabajo del compañero. La interfaz está hecha con React, que arma la pantalla en piezas; Vite la prepara para que corra en el navegador; y debajo están las bases de la web: HTML para la estructura, CSS para el estilo y JavaScript para el comportamiento. Transición: «Daniel, ¿y del lado del servidor?»
Daniel: el servidor está hecho en PHP con Laravel, que recibe los pedidos y los valida; los datos se guardan en MySQL. Para publicar: la interfaz está en Vercel y usamos ngrok para que ese sitio público pueda hablar con nuestro servidor. Y el proceso fue en etapas: partimos de la idea y el análisis, diseñamos la interfaz, desarrollamos frontend y backend, los integramos y probamos, y por último publicamos y preparamos la demostración.
Detalle (solo si preguntan): las etapas se apoyan en el historial del repositorio y la documentación: documentación inicial; interfaz y sus rediseños; backend con MySQL; verificación con MySQL y con Vercel + ngrok; documentación final. No fijamos fechas ni duraciones. Visual Studio Code es el editor que usó el equipo (no consta en la documentación del repositorio). El frontend usa CSS propio y JavaScript con JSX; no usamos frameworks de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NICOLÁS (≈20 s) y DANIEL (≈55 s).
Nicolás (franja de arriba y primeras cajas): hay dos cosas distintas. Arriba, cómo desarrollamos: escribimos en Visual Studio Code, Git registra versiones e historial de cambios y GitHub los comparte; de ahí Vercel toma la interfaz y la publica. Abajo, cómo funciona la aplicación. La persona abre la web en su navegador y recibe la interfaz publicada en Vercel. Transición: «Cuando necesita datos, la interfaz le pregunta al servidor. Daniel, seguí vos.»
Daniel (cajas 3 a 5): la interfaz y el servidor son partes separadas que se hablan por medio de una API. El pedido viaja por una conexión HTTPS que armamos con ngrok, porque hoy el servidor corre en mi computadora y ngrok le da una dirección pública segura; es el montaje actual de la demostración. Llega a Laravel, que valida los datos y consulta o guarda en MySQL. El resultado vuelve por el mismo camino y la interfaz lo muestra en pantalla.
Detalle técnico (solo si preguntan): la interfaz está en Vercel (Preview de la rama del frontend); Vercel reconstruye la Preview cuando se sube un commit a esa rama. La URL de la API se configura en la interfaz mediante una variable de entorno y el servidor permite en CORS el origen exacto de la interfaz. La API tiene tres rutas: listar profesionales, crear una solicitud y una de salud. El ngrok gratuito cambia de URL al reiniciarse y depende de que mi computadora esté encendida con Laravel y MySQL; para uso real el servidor iría a un alojamiento estable. Backend NO está en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DANIEL (≈20 s) y NICOLÁS (≈25 s).
Daniel: lo que más nos importaba era que no fuera una maqueta. Por eso el resultado principal es que las solicitudes válidas realmente quedan guardadas en MySQL: lo comprobamos nosotros enviando solicitudes y mirando las filas de la tabla. Transición: «Y del lado de la pantalla, Nico…»
Nicolás: conseguimos un catálogo que se puede recorrer y filtrar, y un formulario que valida lo que se escribe y le explica a la persona qué corregir. Transición: «Ahora lo mejor es verlo funcionando.»
Detalle técnico (solo si preguntan): hay 13 pruebas automáticas del backend (rutas, validación y CORS; usan una base SQLite en memoria, no MySQL) y 8 del frontend (formato de las respuestas; no usan la red). El guardado en MySQL se verificó a mano. Las cifras de pruebas son las registradas en docs/ESTADO_BACKEND_MVP.md.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NICOLÁS conduce la navegación y DANIEL explica el servidor (≈3 min). Ver el guion para la secuencia completa y el plan de respaldo (no se muestra en pantalla).
1) Encontrar profesionales: Nicolás abre el enlace y muestra el listado; Daniel dice que esa lista viene del servidor.
2) Filtrar: Nicolás filtra por servicio y por barrio.
3) Completar una solicitud: Nicolás intenta enviar vacío (errores) y luego envía con datos de prueba; Daniel explica que el servidor la recibe, la revisa y la guarda en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DANIEL (≈25 s) y NICOLÁS (≈20 s).
Daniel: hoy ConectaPro ya permite ver profesionales, filtrarlos, enviar una solicitud con validación y guardarla en la base de datos. Un MVP se limita a propósito para terminar un recorrido completo antes de sumar más cosas. Transición: «¿Y después? Nico…»
Nicolás: lo que sigue serían cuentas de usuario, un panel para que cada profesional vea y gestione las solicitudes que recibe y reseñas reales en lugar de valoraciones de ejemplo; más adelante, historial y pagos. Eso no está implementado en esta versión: es la visión del proyecto.
Detalle (solo si preguntan): también quedaría pendiente un alojamiento estable para el servidor y verificar la identidad de los profesionales. La comisión del 15 % prevista en la idea original no está implementada.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HABLAN: DANIEL (≈15 s) y NICOLÁS (≈25 s).
Daniel: ConectaPro muestra un recorrido completo: la persona busca, compara, envía una solicitud y el pedido queda guardado de verdad en la base de datos.
Nicolás: lo construimos entre los dos, interfaz y servidor, y los integramos y probamos juntos. Cerramos con una pregunta para ustedes: ¿qué función añadirían primero para que ConectaPro pudiera usarse con clientes reales? Gracias; quedamos atentos.
(El repositorio público está en el pie de la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4275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rgbClr val="4B5563"/>
                </a:solidFill>
                <a:latin typeface="Calibri" pitchFamily="34" charset="0"/>
                <a:ea typeface="Calibri" pitchFamily="34" charset="-122"/>
                <a:cs typeface="Calibri" pitchFamily="34" charset="-120"/>
              </a:rPr>
              <a:t>ConectaPro</a:t>
            </a:r>
            <a:endParaRPr lang="en-US" sz="10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rgbClr val="14275E"/>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A">
    <p:bg>
      <p:bgPr>
        <a:solidFill>
          <a:srgbClr val="14275E"/>
        </a:solidFill>
      </p:bgPr>
    </p:bg>
    <p:spTree>
      <p:nvGrpSpPr>
        <p:cNvPr id="1" name=""/>
        <p:cNvGrpSpPr/>
        <p:nvPr/>
      </p:nvGrpSpPr>
      <p:grpSpPr>
        <a:xfrm>
          <a:off x="0" y="0"/>
          <a:ext cx="0" cy="0"/>
          <a:chOff x="0" y="0"/>
          <a:chExt cx="0" cy="0"/>
        </a:xfrm>
      </p:grpSpPr>
      <p:sp>
        <p:nvSpPr>
          <p:cNvPr id="2" name="Text 0"/>
          <p:cNvSpPr txBox="1"/>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rgbClr val="C7D2FE"/>
                </a:solidFill>
                <a:latin typeface="Calibri" pitchFamily="34" charset="0"/>
                <a:ea typeface="Calibri" pitchFamily="34" charset="-122"/>
                <a:cs typeface="Calibri" pitchFamily="34" charset="-120"/>
              </a:rPr>
              <a:t>ConectaPro</a:t>
            </a:r>
            <a:endParaRPr lang="en-US" sz="10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7D2FE"/>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onecta-pro-git-feat-frontend-angi-redesign-goldbaeren.vercel.app" TargetMode="Externa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Nick-Waschbaer/ConectaPro" TargetMode="External"/><Relationship Id="rId1" Type="http://schemas.openxmlformats.org/officeDocument/2006/relationships/image" Target="../media/image-11-1.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tiqueta"/>
          <p:cNvSpPr txBox="1"/>
          <p:nvPr/>
        </p:nvSpPr>
        <p:spPr>
          <a:xfrm>
            <a:off x="548640" y="868680"/>
            <a:ext cx="4023360" cy="274320"/>
          </a:xfrm>
          <a:prstGeom prst="rect">
            <a:avLst/>
          </a:prstGeom>
          <a:noFill/>
          <a:ln/>
        </p:spPr>
        <p:txBody>
          <a:bodyPr wrap="square" lIns="0" tIns="0" rIns="0" bIns="0" rtlCol="0" anchor="ctr"/>
          <a:lstStyle/>
          <a:p>
            <a:pPr indent="0" marL="0">
              <a:buNone/>
            </a:pPr>
            <a:r>
              <a:rPr lang="en-US" sz="1300" b="1" spc="200" kern="0" dirty="0">
                <a:solidFill>
                  <a:srgbClr val="93C5FD"/>
                </a:solidFill>
                <a:latin typeface="Calibri" pitchFamily="34" charset="0"/>
                <a:ea typeface="Calibri" pitchFamily="34" charset="-122"/>
                <a:cs typeface="Calibri" pitchFamily="34" charset="-120"/>
              </a:rPr>
              <a:t>PROYECTO ESCOLAR · DESPLIEGUE WEB</a:t>
            </a:r>
            <a:endParaRPr lang="en-US" sz="1300" dirty="0"/>
          </a:p>
        </p:txBody>
      </p:sp>
      <p:sp>
        <p:nvSpPr>
          <p:cNvPr id="3" name="Título"/>
          <p:cNvSpPr txBox="1"/>
          <p:nvPr/>
        </p:nvSpPr>
        <p:spPr>
          <a:xfrm>
            <a:off x="548640" y="1280160"/>
            <a:ext cx="3931920" cy="8686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ConectaPro</a:t>
            </a:r>
            <a:endParaRPr lang="en-US" sz="5400" dirty="0"/>
          </a:p>
        </p:txBody>
      </p:sp>
      <p:sp>
        <p:nvSpPr>
          <p:cNvPr id="4" name="Propósito"/>
          <p:cNvSpPr txBox="1"/>
          <p:nvPr/>
        </p:nvSpPr>
        <p:spPr>
          <a:xfrm>
            <a:off x="548640" y="2286000"/>
            <a:ext cx="3840480" cy="1097280"/>
          </a:xfrm>
          <a:prstGeom prst="rect">
            <a:avLst/>
          </a:prstGeom>
          <a:noFill/>
          <a:ln/>
        </p:spPr>
        <p:txBody>
          <a:bodyPr wrap="square" lIns="0" tIns="0" rIns="0" bIns="0" rtlCol="0" anchor="t"/>
          <a:lstStyle/>
          <a:p>
            <a:pPr indent="0" marL="0">
              <a:buNone/>
            </a:pPr>
            <a:r>
              <a:rPr lang="en-US" sz="2000" dirty="0">
                <a:solidFill>
                  <a:srgbClr val="DBEAFE"/>
                </a:solidFill>
                <a:latin typeface="Calibri" pitchFamily="34" charset="0"/>
                <a:ea typeface="Calibri" pitchFamily="34" charset="-122"/>
                <a:cs typeface="Calibri" pitchFamily="34" charset="-120"/>
              </a:rPr>
              <a:t>Conecta a personas que necesitan un técnico del hogar con profesionales independientes</a:t>
            </a:r>
            <a:endParaRPr lang="en-US" sz="2000" dirty="0"/>
          </a:p>
        </p:txBody>
      </p:sp>
      <p:sp>
        <p:nvSpPr>
          <p:cNvPr id="5" name="Integrantes"/>
          <p:cNvSpPr txBox="1"/>
          <p:nvPr/>
        </p:nvSpPr>
        <p:spPr>
          <a:xfrm>
            <a:off x="548640" y="3749040"/>
            <a:ext cx="3840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Nicolás  ·  Daniel</a:t>
            </a:r>
            <a:endParaRPr lang="en-US" sz="2000" dirty="0"/>
          </a:p>
        </p:txBody>
      </p:sp>
      <p:pic>
        <p:nvPicPr>
          <p:cNvPr id="6" name="Captura inicio" descr="Captura real de la página de inicio de ConectaPro con el buscador por servicio y barrio">    </p:cNvPr>
          <p:cNvPicPr>
            <a:picLocks noChangeAspect="1"/>
          </p:cNvPicPr>
          <p:nvPr/>
        </p:nvPicPr>
        <p:blipFill>
          <a:blip r:embed="rId1"/>
          <a:stretch>
            <a:fillRect/>
          </a:stretch>
        </p:blipFill>
        <p:spPr>
          <a:xfrm>
            <a:off x="4663440" y="1280160"/>
            <a:ext cx="4023360" cy="2263140"/>
          </a:xfrm>
          <a:prstGeom prst="rect">
            <a:avLst/>
          </a:prstGeom>
          <a:effectLst>
            <a:outerShdw sx="100000" sy="100000" kx="0" ky="0" algn="bl" rotWithShape="0" blurRad="152400" dist="508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Encontrar un técnico de confianza no es fácil</a:t>
            </a:r>
            <a:endParaRPr lang="en-US" sz="3200" dirty="0"/>
          </a:p>
        </p:txBody>
      </p:sp>
      <p:sp>
        <p:nvSpPr>
          <p:cNvPr id="3" name="Tarjeta Si necesitás un técnico"/>
          <p:cNvSpPr/>
          <p:nvPr/>
        </p:nvSpPr>
        <p:spPr>
          <a:xfrm>
            <a:off x="457200" y="1280160"/>
            <a:ext cx="4023360" cy="3108960"/>
          </a:xfrm>
          <a:prstGeom prst="roundRect">
            <a:avLst>
              <a:gd name="adj" fmla="val 3529"/>
            </a:avLst>
          </a:prstGeom>
          <a:solidFill>
            <a:srgbClr val="F4F6FA"/>
          </a:solidFill>
          <a:ln w="9525">
            <a:solidFill>
              <a:srgbClr val="D9DEE8"/>
            </a:solidFill>
            <a:prstDash val="solid"/>
          </a:ln>
        </p:spPr>
      </p:sp>
      <p:sp>
        <p:nvSpPr>
          <p:cNvPr id="4" name="Icono Si necesitás un técnico fondo"/>
          <p:cNvSpPr/>
          <p:nvPr/>
        </p:nvSpPr>
        <p:spPr>
          <a:xfrm>
            <a:off x="731520" y="1508760"/>
            <a:ext cx="640080" cy="640080"/>
          </a:xfrm>
          <a:prstGeom prst="ellipse">
            <a:avLst/>
          </a:prstGeom>
          <a:solidFill>
            <a:srgbClr val="1D4ED8"/>
          </a:solidFill>
          <a:ln w="12700">
            <a:solidFill>
              <a:srgbClr val="1D4ED8"/>
            </a:solidFill>
            <a:prstDash val="solid"/>
          </a:ln>
        </p:spPr>
      </p:sp>
      <p:pic>
        <p:nvPicPr>
          <p:cNvPr id="5" name="Icono Si necesitás un técnico" descr="Icono Si necesitás un técnico">    </p:cNvPr>
          <p:cNvPicPr>
            <a:picLocks noChangeAspect="1"/>
          </p:cNvPicPr>
          <p:nvPr/>
        </p:nvPicPr>
        <p:blipFill>
          <a:blip r:embed="rId1"/>
          <a:stretch>
            <a:fillRect/>
          </a:stretch>
        </p:blipFill>
        <p:spPr>
          <a:xfrm>
            <a:off x="891540" y="1668780"/>
            <a:ext cx="320040" cy="320040"/>
          </a:xfrm>
          <a:prstGeom prst="rect">
            <a:avLst/>
          </a:prstGeom>
        </p:spPr>
      </p:pic>
      <p:sp>
        <p:nvSpPr>
          <p:cNvPr id="6" name="Si necesitás un técnico"/>
          <p:cNvSpPr txBox="1"/>
          <p:nvPr/>
        </p:nvSpPr>
        <p:spPr>
          <a:xfrm>
            <a:off x="1508760" y="1508760"/>
            <a:ext cx="2834640" cy="640080"/>
          </a:xfrm>
          <a:prstGeom prst="rect">
            <a:avLst/>
          </a:prstGeom>
          <a:noFill/>
          <a:ln/>
        </p:spPr>
        <p:txBody>
          <a:bodyPr wrap="square" lIns="0" tIns="0" rIns="0" bIns="0" rtlCol="0" anchor="ctr"/>
          <a:lstStyle/>
          <a:p>
            <a:pPr indent="0" marL="0">
              <a:buNone/>
            </a:pPr>
            <a:r>
              <a:rPr lang="en-US" sz="2000" b="1" dirty="0">
                <a:solidFill>
                  <a:srgbClr val="14275E"/>
                </a:solidFill>
                <a:latin typeface="Calibri" pitchFamily="34" charset="0"/>
                <a:ea typeface="Calibri" pitchFamily="34" charset="-122"/>
                <a:cs typeface="Calibri" pitchFamily="34" charset="-120"/>
              </a:rPr>
              <a:t>Si necesitás un técnico</a:t>
            </a:r>
            <a:endParaRPr lang="en-US" sz="2000" dirty="0"/>
          </a:p>
        </p:txBody>
      </p:sp>
      <p:sp>
        <p:nvSpPr>
          <p:cNvPr id="7" name="Punto 1.1"/>
          <p:cNvSpPr txBox="1"/>
          <p:nvPr/>
        </p:nvSpPr>
        <p:spPr>
          <a:xfrm>
            <a:off x="777240" y="2423160"/>
            <a:ext cx="3383280" cy="822960"/>
          </a:xfrm>
          <a:prstGeom prst="rect">
            <a:avLst/>
          </a:prstGeom>
          <a:noFill/>
          <a:ln/>
        </p:spPr>
        <p:txBody>
          <a:bodyPr wrap="square" lIns="0" tIns="0" rIns="0" bIns="0" rtlCol="0" anchor="t"/>
          <a:lstStyle/>
          <a:p>
            <a:pPr indent="0" marL="0">
              <a:buNone/>
            </a:pPr>
            <a:r>
              <a:rPr lang="en-US" sz="1800" dirty="0">
                <a:solidFill>
                  <a:srgbClr val="1F2937"/>
                </a:solidFill>
                <a:latin typeface="Calibri" pitchFamily="34" charset="0"/>
                <a:ea typeface="Calibri" pitchFamily="34" charset="-122"/>
                <a:cs typeface="Calibri" pitchFamily="34" charset="-120"/>
              </a:rPr>
              <a:t>Dependés del boca a boca o de buscar en redes sociales</a:t>
            </a:r>
            <a:endParaRPr lang="en-US" sz="1800" dirty="0"/>
          </a:p>
        </p:txBody>
      </p:sp>
      <p:sp>
        <p:nvSpPr>
          <p:cNvPr id="8" name="Punto 1.2"/>
          <p:cNvSpPr txBox="1"/>
          <p:nvPr/>
        </p:nvSpPr>
        <p:spPr>
          <a:xfrm>
            <a:off x="777240" y="3383280"/>
            <a:ext cx="3383280" cy="822960"/>
          </a:xfrm>
          <a:prstGeom prst="rect">
            <a:avLst/>
          </a:prstGeom>
          <a:noFill/>
          <a:ln/>
        </p:spPr>
        <p:txBody>
          <a:bodyPr wrap="square" lIns="0" tIns="0" rIns="0" bIns="0" rtlCol="0" anchor="t"/>
          <a:lstStyle/>
          <a:p>
            <a:pPr indent="0" marL="0">
              <a:buNone/>
            </a:pPr>
            <a:r>
              <a:rPr lang="en-US" sz="1800" dirty="0">
                <a:solidFill>
                  <a:srgbClr val="1F2937"/>
                </a:solidFill>
                <a:latin typeface="Calibri" pitchFamily="34" charset="0"/>
                <a:ea typeface="Calibri" pitchFamily="34" charset="-122"/>
                <a:cs typeface="Calibri" pitchFamily="34" charset="-120"/>
              </a:rPr>
              <a:t>Cuesta comparar opciones y saber en quién confiar</a:t>
            </a:r>
            <a:endParaRPr lang="en-US" sz="1800" dirty="0"/>
          </a:p>
        </p:txBody>
      </p:sp>
      <p:sp>
        <p:nvSpPr>
          <p:cNvPr id="9" name="Tarjeta Si ofrecés tu trabajo"/>
          <p:cNvSpPr/>
          <p:nvPr/>
        </p:nvSpPr>
        <p:spPr>
          <a:xfrm>
            <a:off x="4663440" y="1280160"/>
            <a:ext cx="4023360" cy="3108960"/>
          </a:xfrm>
          <a:prstGeom prst="roundRect">
            <a:avLst>
              <a:gd name="adj" fmla="val 3529"/>
            </a:avLst>
          </a:prstGeom>
          <a:solidFill>
            <a:srgbClr val="F4F6FA"/>
          </a:solidFill>
          <a:ln w="9525">
            <a:solidFill>
              <a:srgbClr val="D9DEE8"/>
            </a:solidFill>
            <a:prstDash val="solid"/>
          </a:ln>
        </p:spPr>
      </p:sp>
      <p:sp>
        <p:nvSpPr>
          <p:cNvPr id="10" name="Icono Si ofrecés tu trabajo fondo"/>
          <p:cNvSpPr/>
          <p:nvPr/>
        </p:nvSpPr>
        <p:spPr>
          <a:xfrm>
            <a:off x="4937760" y="1508760"/>
            <a:ext cx="640080" cy="640080"/>
          </a:xfrm>
          <a:prstGeom prst="ellipse">
            <a:avLst/>
          </a:prstGeom>
          <a:solidFill>
            <a:srgbClr val="BE185D"/>
          </a:solidFill>
          <a:ln w="12700">
            <a:solidFill>
              <a:srgbClr val="BE185D"/>
            </a:solidFill>
            <a:prstDash val="solid"/>
          </a:ln>
        </p:spPr>
      </p:sp>
      <p:pic>
        <p:nvPicPr>
          <p:cNvPr id="11" name="Icono Si ofrecés tu trabajo" descr="Icono Si ofrecés tu trabajo">    </p:cNvPr>
          <p:cNvPicPr>
            <a:picLocks noChangeAspect="1"/>
          </p:cNvPicPr>
          <p:nvPr/>
        </p:nvPicPr>
        <p:blipFill>
          <a:blip r:embed="rId2"/>
          <a:stretch>
            <a:fillRect/>
          </a:stretch>
        </p:blipFill>
        <p:spPr>
          <a:xfrm>
            <a:off x="5097780" y="1668780"/>
            <a:ext cx="320040" cy="320040"/>
          </a:xfrm>
          <a:prstGeom prst="rect">
            <a:avLst/>
          </a:prstGeom>
        </p:spPr>
      </p:pic>
      <p:sp>
        <p:nvSpPr>
          <p:cNvPr id="12" name="Si ofrecés tu trabajo"/>
          <p:cNvSpPr txBox="1"/>
          <p:nvPr/>
        </p:nvSpPr>
        <p:spPr>
          <a:xfrm>
            <a:off x="5715000" y="1508760"/>
            <a:ext cx="2834640" cy="640080"/>
          </a:xfrm>
          <a:prstGeom prst="rect">
            <a:avLst/>
          </a:prstGeom>
          <a:noFill/>
          <a:ln/>
        </p:spPr>
        <p:txBody>
          <a:bodyPr wrap="square" lIns="0" tIns="0" rIns="0" bIns="0" rtlCol="0" anchor="ctr"/>
          <a:lstStyle/>
          <a:p>
            <a:pPr indent="0" marL="0">
              <a:buNone/>
            </a:pPr>
            <a:r>
              <a:rPr lang="en-US" sz="2000" b="1" dirty="0">
                <a:solidFill>
                  <a:srgbClr val="14275E"/>
                </a:solidFill>
                <a:latin typeface="Calibri" pitchFamily="34" charset="0"/>
                <a:ea typeface="Calibri" pitchFamily="34" charset="-122"/>
                <a:cs typeface="Calibri" pitchFamily="34" charset="-120"/>
              </a:rPr>
              <a:t>Si ofrecés tu trabajo</a:t>
            </a:r>
            <a:endParaRPr lang="en-US" sz="2000" dirty="0"/>
          </a:p>
        </p:txBody>
      </p:sp>
      <p:sp>
        <p:nvSpPr>
          <p:cNvPr id="13" name="Punto 2.1"/>
          <p:cNvSpPr txBox="1"/>
          <p:nvPr/>
        </p:nvSpPr>
        <p:spPr>
          <a:xfrm>
            <a:off x="4983480" y="2423160"/>
            <a:ext cx="3383280" cy="822960"/>
          </a:xfrm>
          <a:prstGeom prst="rect">
            <a:avLst/>
          </a:prstGeom>
          <a:noFill/>
          <a:ln/>
        </p:spPr>
        <p:txBody>
          <a:bodyPr wrap="square" lIns="0" tIns="0" rIns="0" bIns="0" rtlCol="0" anchor="t"/>
          <a:lstStyle/>
          <a:p>
            <a:pPr indent="0" marL="0">
              <a:buNone/>
            </a:pPr>
            <a:r>
              <a:rPr lang="en-US" sz="1800" dirty="0">
                <a:solidFill>
                  <a:srgbClr val="1F2937"/>
                </a:solidFill>
                <a:latin typeface="Calibri" pitchFamily="34" charset="0"/>
                <a:ea typeface="Calibri" pitchFamily="34" charset="-122"/>
                <a:cs typeface="Calibri" pitchFamily="34" charset="-120"/>
              </a:rPr>
              <a:t>Tenés poca visibilidad si trabajás de forma independiente</a:t>
            </a:r>
            <a:endParaRPr lang="en-US" sz="1800" dirty="0"/>
          </a:p>
        </p:txBody>
      </p:sp>
      <p:sp>
        <p:nvSpPr>
          <p:cNvPr id="14" name="Punto 2.2"/>
          <p:cNvSpPr txBox="1"/>
          <p:nvPr/>
        </p:nvSpPr>
        <p:spPr>
          <a:xfrm>
            <a:off x="4983480" y="3383280"/>
            <a:ext cx="3383280" cy="822960"/>
          </a:xfrm>
          <a:prstGeom prst="rect">
            <a:avLst/>
          </a:prstGeom>
          <a:noFill/>
          <a:ln/>
        </p:spPr>
        <p:txBody>
          <a:bodyPr wrap="square" lIns="0" tIns="0" rIns="0" bIns="0" rtlCol="0" anchor="t"/>
          <a:lstStyle/>
          <a:p>
            <a:pPr indent="0" marL="0">
              <a:buNone/>
            </a:pPr>
            <a:r>
              <a:rPr lang="en-US" sz="1800" dirty="0">
                <a:solidFill>
                  <a:srgbClr val="1F2937"/>
                </a:solidFill>
                <a:latin typeface="Calibri" pitchFamily="34" charset="0"/>
                <a:ea typeface="Calibri" pitchFamily="34" charset="-122"/>
                <a:cs typeface="Calibri" pitchFamily="34" charset="-120"/>
              </a:rPr>
              <a:t>Tenés pocos canales digitales para conseguir clientes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ConectaPro: buscar, comparar y solicitar</a:t>
            </a:r>
            <a:endParaRPr lang="en-US" sz="3200" dirty="0"/>
          </a:p>
        </p:txBody>
      </p:sp>
      <p:sp>
        <p:nvSpPr>
          <p:cNvPr id="3" name="Icono Buscá fondo"/>
          <p:cNvSpPr/>
          <p:nvPr/>
        </p:nvSpPr>
        <p:spPr>
          <a:xfrm>
            <a:off x="457200" y="1325880"/>
            <a:ext cx="777240" cy="777240"/>
          </a:xfrm>
          <a:prstGeom prst="ellipse">
            <a:avLst/>
          </a:prstGeom>
          <a:solidFill>
            <a:srgbClr val="1D4ED8"/>
          </a:solidFill>
          <a:ln w="12700">
            <a:solidFill>
              <a:srgbClr val="1D4ED8"/>
            </a:solidFill>
            <a:prstDash val="solid"/>
          </a:ln>
        </p:spPr>
      </p:sp>
      <p:pic>
        <p:nvPicPr>
          <p:cNvPr id="4" name="Icono Buscá" descr="Icono Buscá">    </p:cNvPr>
          <p:cNvPicPr>
            <a:picLocks noChangeAspect="1"/>
          </p:cNvPicPr>
          <p:nvPr/>
        </p:nvPicPr>
        <p:blipFill>
          <a:blip r:embed="rId1"/>
          <a:stretch>
            <a:fillRect/>
          </a:stretch>
        </p:blipFill>
        <p:spPr>
          <a:xfrm>
            <a:off x="651510" y="1520190"/>
            <a:ext cx="388620" cy="388620"/>
          </a:xfrm>
          <a:prstGeom prst="rect">
            <a:avLst/>
          </a:prstGeom>
        </p:spPr>
      </p:pic>
      <p:sp>
        <p:nvSpPr>
          <p:cNvPr id="5" name="Paso 1"/>
          <p:cNvSpPr txBox="1"/>
          <p:nvPr/>
        </p:nvSpPr>
        <p:spPr>
          <a:xfrm>
            <a:off x="1463040" y="1325880"/>
            <a:ext cx="2834640" cy="411480"/>
          </a:xfrm>
          <a:prstGeom prst="rect">
            <a:avLst/>
          </a:prstGeom>
          <a:noFill/>
          <a:ln/>
        </p:spPr>
        <p:txBody>
          <a:bodyPr wrap="square" lIns="0" tIns="0" rIns="0" bIns="0" rtlCol="0" anchor="ctr"/>
          <a:lstStyle/>
          <a:p>
            <a:pPr indent="0" marL="0">
              <a:buNone/>
            </a:pPr>
            <a:r>
              <a:rPr lang="en-US" sz="2400" b="1" dirty="0">
                <a:solidFill>
                  <a:srgbClr val="14275E"/>
                </a:solidFill>
                <a:latin typeface="Calibri" pitchFamily="34" charset="0"/>
                <a:ea typeface="Calibri" pitchFamily="34" charset="-122"/>
                <a:cs typeface="Calibri" pitchFamily="34" charset="-120"/>
              </a:rPr>
              <a:t>Buscá</a:t>
            </a:r>
            <a:endParaRPr lang="en-US" sz="2400" dirty="0"/>
          </a:p>
        </p:txBody>
      </p:sp>
      <p:sp>
        <p:nvSpPr>
          <p:cNvPr id="6" name="Detalle paso 1"/>
          <p:cNvSpPr txBox="1"/>
          <p:nvPr/>
        </p:nvSpPr>
        <p:spPr>
          <a:xfrm>
            <a:off x="1463040" y="1737360"/>
            <a:ext cx="2834640" cy="365760"/>
          </a:xfrm>
          <a:prstGeom prst="rect">
            <a:avLst/>
          </a:prstGeom>
          <a:noFill/>
          <a:ln/>
        </p:spPr>
        <p:txBody>
          <a:bodyPr wrap="square" lIns="0" tIns="0" rIns="0" bIns="0" rtlCol="0" anchor="t"/>
          <a:lstStyle/>
          <a:p>
            <a:pPr indent="0" marL="0">
              <a:buNone/>
            </a:pPr>
            <a:r>
              <a:rPr lang="en-US" sz="1600" dirty="0">
                <a:solidFill>
                  <a:srgbClr val="4B5563"/>
                </a:solidFill>
                <a:latin typeface="Calibri" pitchFamily="34" charset="0"/>
                <a:ea typeface="Calibri" pitchFamily="34" charset="-122"/>
                <a:cs typeface="Calibri" pitchFamily="34" charset="-120"/>
              </a:rPr>
              <a:t>Elegí el servicio y tu barrio</a:t>
            </a:r>
            <a:endParaRPr lang="en-US" sz="1600" dirty="0"/>
          </a:p>
        </p:txBody>
      </p:sp>
      <p:sp>
        <p:nvSpPr>
          <p:cNvPr id="7" name="Icono Compará fondo"/>
          <p:cNvSpPr/>
          <p:nvPr/>
        </p:nvSpPr>
        <p:spPr>
          <a:xfrm>
            <a:off x="457200" y="2423160"/>
            <a:ext cx="777240" cy="777240"/>
          </a:xfrm>
          <a:prstGeom prst="ellipse">
            <a:avLst/>
          </a:prstGeom>
          <a:solidFill>
            <a:srgbClr val="1D4ED8"/>
          </a:solidFill>
          <a:ln w="12700">
            <a:solidFill>
              <a:srgbClr val="1D4ED8"/>
            </a:solidFill>
            <a:prstDash val="solid"/>
          </a:ln>
        </p:spPr>
      </p:sp>
      <p:pic>
        <p:nvPicPr>
          <p:cNvPr id="8" name="Icono Compará" descr="Icono Compará">    </p:cNvPr>
          <p:cNvPicPr>
            <a:picLocks noChangeAspect="1"/>
          </p:cNvPicPr>
          <p:nvPr/>
        </p:nvPicPr>
        <p:blipFill>
          <a:blip r:embed="rId2"/>
          <a:stretch>
            <a:fillRect/>
          </a:stretch>
        </p:blipFill>
        <p:spPr>
          <a:xfrm>
            <a:off x="651510" y="2617470"/>
            <a:ext cx="388620" cy="388620"/>
          </a:xfrm>
          <a:prstGeom prst="rect">
            <a:avLst/>
          </a:prstGeom>
        </p:spPr>
      </p:pic>
      <p:sp>
        <p:nvSpPr>
          <p:cNvPr id="9" name="Paso 2"/>
          <p:cNvSpPr txBox="1"/>
          <p:nvPr/>
        </p:nvSpPr>
        <p:spPr>
          <a:xfrm>
            <a:off x="1463040" y="2423160"/>
            <a:ext cx="2834640" cy="411480"/>
          </a:xfrm>
          <a:prstGeom prst="rect">
            <a:avLst/>
          </a:prstGeom>
          <a:noFill/>
          <a:ln/>
        </p:spPr>
        <p:txBody>
          <a:bodyPr wrap="square" lIns="0" tIns="0" rIns="0" bIns="0" rtlCol="0" anchor="ctr"/>
          <a:lstStyle/>
          <a:p>
            <a:pPr indent="0" marL="0">
              <a:buNone/>
            </a:pPr>
            <a:r>
              <a:rPr lang="en-US" sz="2400" b="1" dirty="0">
                <a:solidFill>
                  <a:srgbClr val="14275E"/>
                </a:solidFill>
                <a:latin typeface="Calibri" pitchFamily="34" charset="0"/>
                <a:ea typeface="Calibri" pitchFamily="34" charset="-122"/>
                <a:cs typeface="Calibri" pitchFamily="34" charset="-120"/>
              </a:rPr>
              <a:t>Compará</a:t>
            </a:r>
            <a:endParaRPr lang="en-US" sz="2400" dirty="0"/>
          </a:p>
        </p:txBody>
      </p:sp>
      <p:sp>
        <p:nvSpPr>
          <p:cNvPr id="10" name="Detalle paso 2"/>
          <p:cNvSpPr txBox="1"/>
          <p:nvPr/>
        </p:nvSpPr>
        <p:spPr>
          <a:xfrm>
            <a:off x="1463040" y="2834640"/>
            <a:ext cx="2834640" cy="365760"/>
          </a:xfrm>
          <a:prstGeom prst="rect">
            <a:avLst/>
          </a:prstGeom>
          <a:noFill/>
          <a:ln/>
        </p:spPr>
        <p:txBody>
          <a:bodyPr wrap="square" lIns="0" tIns="0" rIns="0" bIns="0" rtlCol="0" anchor="t"/>
          <a:lstStyle/>
          <a:p>
            <a:pPr indent="0" marL="0">
              <a:buNone/>
            </a:pPr>
            <a:r>
              <a:rPr lang="en-US" sz="1600" dirty="0">
                <a:solidFill>
                  <a:srgbClr val="4B5563"/>
                </a:solidFill>
                <a:latin typeface="Calibri" pitchFamily="34" charset="0"/>
                <a:ea typeface="Calibri" pitchFamily="34" charset="-122"/>
                <a:cs typeface="Calibri" pitchFamily="34" charset="-120"/>
              </a:rPr>
              <a:t>Mirá oficio, barrio y valoración</a:t>
            </a:r>
            <a:endParaRPr lang="en-US" sz="1600" dirty="0"/>
          </a:p>
        </p:txBody>
      </p:sp>
      <p:sp>
        <p:nvSpPr>
          <p:cNvPr id="11" name="Icono Solicitá fondo"/>
          <p:cNvSpPr/>
          <p:nvPr/>
        </p:nvSpPr>
        <p:spPr>
          <a:xfrm>
            <a:off x="457200" y="3520440"/>
            <a:ext cx="777240" cy="777240"/>
          </a:xfrm>
          <a:prstGeom prst="ellipse">
            <a:avLst/>
          </a:prstGeom>
          <a:solidFill>
            <a:srgbClr val="BE185D"/>
          </a:solidFill>
          <a:ln w="12700">
            <a:solidFill>
              <a:srgbClr val="BE185D"/>
            </a:solidFill>
            <a:prstDash val="solid"/>
          </a:ln>
        </p:spPr>
      </p:sp>
      <p:pic>
        <p:nvPicPr>
          <p:cNvPr id="12" name="Icono Solicitá" descr="Icono Solicitá">    </p:cNvPr>
          <p:cNvPicPr>
            <a:picLocks noChangeAspect="1"/>
          </p:cNvPicPr>
          <p:nvPr/>
        </p:nvPicPr>
        <p:blipFill>
          <a:blip r:embed="rId3"/>
          <a:stretch>
            <a:fillRect/>
          </a:stretch>
        </p:blipFill>
        <p:spPr>
          <a:xfrm>
            <a:off x="651510" y="3714750"/>
            <a:ext cx="388620" cy="388620"/>
          </a:xfrm>
          <a:prstGeom prst="rect">
            <a:avLst/>
          </a:prstGeom>
        </p:spPr>
      </p:pic>
      <p:sp>
        <p:nvSpPr>
          <p:cNvPr id="13" name="Paso 3"/>
          <p:cNvSpPr txBox="1"/>
          <p:nvPr/>
        </p:nvSpPr>
        <p:spPr>
          <a:xfrm>
            <a:off x="1463040" y="3520440"/>
            <a:ext cx="2834640" cy="411480"/>
          </a:xfrm>
          <a:prstGeom prst="rect">
            <a:avLst/>
          </a:prstGeom>
          <a:noFill/>
          <a:ln/>
        </p:spPr>
        <p:txBody>
          <a:bodyPr wrap="square" lIns="0" tIns="0" rIns="0" bIns="0" rtlCol="0" anchor="ctr"/>
          <a:lstStyle/>
          <a:p>
            <a:pPr indent="0" marL="0">
              <a:buNone/>
            </a:pPr>
            <a:r>
              <a:rPr lang="en-US" sz="2400" b="1" dirty="0">
                <a:solidFill>
                  <a:srgbClr val="14275E"/>
                </a:solidFill>
                <a:latin typeface="Calibri" pitchFamily="34" charset="0"/>
                <a:ea typeface="Calibri" pitchFamily="34" charset="-122"/>
                <a:cs typeface="Calibri" pitchFamily="34" charset="-120"/>
              </a:rPr>
              <a:t>Solicitá</a:t>
            </a:r>
            <a:endParaRPr lang="en-US" sz="2400" dirty="0"/>
          </a:p>
        </p:txBody>
      </p:sp>
      <p:sp>
        <p:nvSpPr>
          <p:cNvPr id="14" name="Detalle paso 3"/>
          <p:cNvSpPr txBox="1"/>
          <p:nvPr/>
        </p:nvSpPr>
        <p:spPr>
          <a:xfrm>
            <a:off x="1463040" y="3931920"/>
            <a:ext cx="2834640" cy="365760"/>
          </a:xfrm>
          <a:prstGeom prst="rect">
            <a:avLst/>
          </a:prstGeom>
          <a:noFill/>
          <a:ln/>
        </p:spPr>
        <p:txBody>
          <a:bodyPr wrap="square" lIns="0" tIns="0" rIns="0" bIns="0" rtlCol="0" anchor="t"/>
          <a:lstStyle/>
          <a:p>
            <a:pPr indent="0" marL="0">
              <a:buNone/>
            </a:pPr>
            <a:r>
              <a:rPr lang="en-US" sz="1600" dirty="0">
                <a:solidFill>
                  <a:srgbClr val="4B5563"/>
                </a:solidFill>
                <a:latin typeface="Calibri" pitchFamily="34" charset="0"/>
                <a:ea typeface="Calibri" pitchFamily="34" charset="-122"/>
                <a:cs typeface="Calibri" pitchFamily="34" charset="-120"/>
              </a:rPr>
              <a:t>Pedile el trabajo al profesional</a:t>
            </a:r>
            <a:endParaRPr lang="en-US" sz="1600" dirty="0"/>
          </a:p>
        </p:txBody>
      </p:sp>
      <p:pic>
        <p:nvPicPr>
          <p:cNvPr id="15" name="Captura inicio" descr="Captura real de la página de inicio: título, buscador por servicio y barrio y atajos por oficio">    </p:cNvPr>
          <p:cNvPicPr>
            <a:picLocks noChangeAspect="1"/>
          </p:cNvPicPr>
          <p:nvPr/>
        </p:nvPicPr>
        <p:blipFill>
          <a:blip r:embed="rId4"/>
          <a:stretch>
            <a:fillRect/>
          </a:stretch>
        </p:blipFill>
        <p:spPr>
          <a:xfrm>
            <a:off x="4572000" y="1325880"/>
            <a:ext cx="4114800" cy="2313432"/>
          </a:xfrm>
          <a:prstGeom prst="rect">
            <a:avLst/>
          </a:prstGeom>
          <a:effectLst>
            <a:outerShdw sx="100000" sy="100000" kx="0" ky="0" algn="bl" rotWithShape="0" blurRad="101600" dist="38100" dir="5400000">
              <a:srgbClr val="000000">
                <a:alpha val="20000"/>
              </a:srgbClr>
            </a:outerShdw>
          </a:effectLst>
        </p:spPr>
      </p:pic>
      <p:sp>
        <p:nvSpPr>
          <p:cNvPr id="16" name="Pie de captura"/>
          <p:cNvSpPr txBox="1"/>
          <p:nvPr/>
        </p:nvSpPr>
        <p:spPr>
          <a:xfrm>
            <a:off x="4572000" y="3749040"/>
            <a:ext cx="4114800" cy="320040"/>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Así se ve ConectaPro al entrar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Un directorio para comparar y elegir</a:t>
            </a:r>
            <a:endParaRPr lang="en-US" sz="3200" dirty="0"/>
          </a:p>
        </p:txBody>
      </p:sp>
      <p:pic>
        <p:nvPicPr>
          <p:cNvPr id="3" name="Captura 1" descr="Captura real del listado de profesionales con oficio, barrio, valoración y botón Solicitar servicio">    </p:cNvPr>
          <p:cNvPicPr>
            <a:picLocks noChangeAspect="1"/>
          </p:cNvPicPr>
          <p:nvPr/>
        </p:nvPicPr>
        <p:blipFill>
          <a:blip r:embed="rId1"/>
          <a:stretch>
            <a:fillRect/>
          </a:stretch>
        </p:blipFill>
        <p:spPr>
          <a:xfrm>
            <a:off x="457200" y="1188720"/>
            <a:ext cx="4023360" cy="2263140"/>
          </a:xfrm>
          <a:prstGeom prst="rect">
            <a:avLst/>
          </a:prstGeom>
          <a:effectLst>
            <a:outerShdw sx="100000" sy="100000" kx="0" ky="0" algn="bl" rotWithShape="0" blurRad="101600" dist="38100" dir="5400000">
              <a:srgbClr val="000000">
                <a:alpha val="20000"/>
              </a:srgbClr>
            </a:outerShdw>
          </a:effectLst>
        </p:spPr>
      </p:pic>
      <p:sp>
        <p:nvSpPr>
          <p:cNvPr id="4" name="Pie de captura 1"/>
          <p:cNvSpPr txBox="1"/>
          <p:nvPr/>
        </p:nvSpPr>
        <p:spPr>
          <a:xfrm>
            <a:off x="457200" y="3566160"/>
            <a:ext cx="4023360" cy="365760"/>
          </a:xfrm>
          <a:prstGeom prst="rect">
            <a:avLst/>
          </a:prstGeom>
          <a:noFill/>
          <a:ln/>
        </p:spPr>
        <p:txBody>
          <a:bodyPr wrap="square" lIns="0" tIns="0" rIns="0" bIns="0" rtlCol="0" anchor="t"/>
          <a:lstStyle/>
          <a:p>
            <a:pPr indent="0" marL="0">
              <a:buNone/>
            </a:pPr>
            <a:r>
              <a:rPr lang="en-US" sz="1600" b="1" dirty="0">
                <a:solidFill>
                  <a:srgbClr val="14275E"/>
                </a:solidFill>
                <a:latin typeface="Calibri" pitchFamily="34" charset="0"/>
                <a:ea typeface="Calibri" pitchFamily="34" charset="-122"/>
                <a:cs typeface="Calibri" pitchFamily="34" charset="-120"/>
              </a:rPr>
              <a:t>Profesionales de distintos oficios y barrios</a:t>
            </a:r>
            <a:endParaRPr lang="en-US" sz="1600" dirty="0"/>
          </a:p>
        </p:txBody>
      </p:sp>
      <p:pic>
        <p:nvPicPr>
          <p:cNvPr id="5" name="Captura 2" descr="Captura real de los resultados filtrados por Plomería, con el enlace Quitar filtros">    </p:cNvPr>
          <p:cNvPicPr>
            <a:picLocks noChangeAspect="1"/>
          </p:cNvPicPr>
          <p:nvPr/>
        </p:nvPicPr>
        <p:blipFill>
          <a:blip r:embed="rId2"/>
          <a:stretch>
            <a:fillRect/>
          </a:stretch>
        </p:blipFill>
        <p:spPr>
          <a:xfrm>
            <a:off x="4663440" y="1188720"/>
            <a:ext cx="4023360" cy="2263140"/>
          </a:xfrm>
          <a:prstGeom prst="rect">
            <a:avLst/>
          </a:prstGeom>
          <a:effectLst>
            <a:outerShdw sx="100000" sy="100000" kx="0" ky="0" algn="bl" rotWithShape="0" blurRad="101600" dist="38100" dir="5400000">
              <a:srgbClr val="000000">
                <a:alpha val="20000"/>
              </a:srgbClr>
            </a:outerShdw>
          </a:effectLst>
        </p:spPr>
      </p:pic>
      <p:sp>
        <p:nvSpPr>
          <p:cNvPr id="6" name="Pie de captura 2"/>
          <p:cNvSpPr txBox="1"/>
          <p:nvPr/>
        </p:nvSpPr>
        <p:spPr>
          <a:xfrm>
            <a:off x="4663440" y="3566160"/>
            <a:ext cx="4023360" cy="365760"/>
          </a:xfrm>
          <a:prstGeom prst="rect">
            <a:avLst/>
          </a:prstGeom>
          <a:noFill/>
          <a:ln/>
        </p:spPr>
        <p:txBody>
          <a:bodyPr wrap="square" lIns="0" tIns="0" rIns="0" bIns="0" rtlCol="0" anchor="t"/>
          <a:lstStyle/>
          <a:p>
            <a:pPr indent="0" marL="0">
              <a:buNone/>
            </a:pPr>
            <a:r>
              <a:rPr lang="en-US" sz="1600" b="1" dirty="0">
                <a:solidFill>
                  <a:srgbClr val="14275E"/>
                </a:solidFill>
                <a:latin typeface="Calibri" pitchFamily="34" charset="0"/>
                <a:ea typeface="Calibri" pitchFamily="34" charset="-122"/>
                <a:cs typeface="Calibri" pitchFamily="34" charset="-120"/>
              </a:rPr>
              <a:t>Resultados acotados por servicio</a:t>
            </a:r>
            <a:endParaRPr lang="en-US" sz="1600" dirty="0"/>
          </a:p>
        </p:txBody>
      </p:sp>
      <p:sp>
        <p:nvSpPr>
          <p:cNvPr id="7" name="Datos fondo"/>
          <p:cNvSpPr/>
          <p:nvPr/>
        </p:nvSpPr>
        <p:spPr>
          <a:xfrm>
            <a:off x="457200" y="4023360"/>
            <a:ext cx="8229600" cy="548640"/>
          </a:xfrm>
          <a:prstGeom prst="roundRect">
            <a:avLst>
              <a:gd name="adj" fmla="val 16667"/>
            </a:avLst>
          </a:prstGeom>
          <a:solidFill>
            <a:srgbClr val="DBEAFE"/>
          </a:solidFill>
          <a:ln w="12700">
            <a:solidFill>
              <a:srgbClr val="DBEAFE"/>
            </a:solidFill>
            <a:prstDash val="solid"/>
          </a:ln>
        </p:spPr>
      </p:sp>
      <p:sp>
        <p:nvSpPr>
          <p:cNvPr id="8" name="Datos del catálogo"/>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1600" dirty="0">
                <a:solidFill>
                  <a:srgbClr val="4B5563"/>
                </a:solidFill>
                <a:latin typeface="Calibri" pitchFamily="34" charset="0"/>
                <a:ea typeface="Calibri" pitchFamily="34" charset="-122"/>
                <a:cs typeface="Calibri" pitchFamily="34" charset="-120"/>
              </a:rPr>
              <a:t>Datos de ejemplo de esta versión:  </a:t>
            </a:r>
            <a:pPr algn="ctr" indent="0" marL="0">
              <a:buNone/>
            </a:pPr>
            <a:r>
              <a:rPr lang="en-US" sz="1600" b="1" dirty="0">
                <a:solidFill>
                  <a:srgbClr val="14275E"/>
                </a:solidFill>
                <a:latin typeface="Calibri" pitchFamily="34" charset="0"/>
                <a:ea typeface="Calibri" pitchFamily="34" charset="-122"/>
                <a:cs typeface="Calibri" pitchFamily="34" charset="-120"/>
              </a:rPr>
              <a:t>100 perfiles</a:t>
            </a:r>
            <a:pPr algn="ctr" indent="0" marL="0">
              <a:buNone/>
            </a:pPr>
            <a:r>
              <a:rPr lang="en-US" sz="1600" dirty="0">
                <a:solidFill>
                  <a:srgbClr val="4B5563"/>
                </a:solidFill>
                <a:latin typeface="Calibri" pitchFamily="34" charset="0"/>
                <a:ea typeface="Calibri" pitchFamily="34" charset="-122"/>
                <a:cs typeface="Calibri" pitchFamily="34" charset="-120"/>
              </a:rPr>
              <a:t>  ·  </a:t>
            </a:r>
            <a:pPr algn="ctr" indent="0" marL="0">
              <a:buNone/>
            </a:pPr>
            <a:r>
              <a:rPr lang="en-US" sz="1600" b="1" dirty="0">
                <a:solidFill>
                  <a:srgbClr val="14275E"/>
                </a:solidFill>
                <a:latin typeface="Calibri" pitchFamily="34" charset="0"/>
                <a:ea typeface="Calibri" pitchFamily="34" charset="-122"/>
                <a:cs typeface="Calibri" pitchFamily="34" charset="-120"/>
              </a:rPr>
              <a:t>7 oficios</a:t>
            </a:r>
            <a:pPr algn="ctr" indent="0" marL="0">
              <a:buNone/>
            </a:pPr>
            <a:r>
              <a:rPr lang="en-US" sz="1600" dirty="0">
                <a:solidFill>
                  <a:srgbClr val="4B5563"/>
                </a:solidFill>
                <a:latin typeface="Calibri" pitchFamily="34" charset="0"/>
                <a:ea typeface="Calibri" pitchFamily="34" charset="-122"/>
                <a:cs typeface="Calibri" pitchFamily="34" charset="-120"/>
              </a:rPr>
              <a:t>  ·  </a:t>
            </a:r>
            <a:pPr algn="ctr" indent="0" marL="0">
              <a:buNone/>
            </a:pPr>
            <a:r>
              <a:rPr lang="en-US" sz="1600" b="1" dirty="0">
                <a:solidFill>
                  <a:srgbClr val="14275E"/>
                </a:solidFill>
                <a:latin typeface="Calibri" pitchFamily="34" charset="0"/>
                <a:ea typeface="Calibri" pitchFamily="34" charset="-122"/>
                <a:cs typeface="Calibri" pitchFamily="34" charset="-120"/>
              </a:rPr>
              <a:t>10 barrios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Pedir un servicio, paso a paso</a:t>
            </a:r>
            <a:endParaRPr lang="en-US" sz="3200" dirty="0"/>
          </a:p>
        </p:txBody>
      </p:sp>
      <p:pic>
        <p:nvPicPr>
          <p:cNvPr id="3" name="Captura formulario" descr="Captura real del formulario Solicitar servicio con los campos nombre, teléfono, barrio y descripción, sin enviar">    </p:cNvPr>
          <p:cNvPicPr>
            <a:picLocks noChangeAspect="1"/>
          </p:cNvPicPr>
          <p:nvPr/>
        </p:nvPicPr>
        <p:blipFill>
          <a:blip r:embed="rId1"/>
          <a:stretch>
            <a:fillRect/>
          </a:stretch>
        </p:blipFill>
        <p:spPr>
          <a:xfrm>
            <a:off x="457200" y="1188720"/>
            <a:ext cx="4754880" cy="2674620"/>
          </a:xfrm>
          <a:prstGeom prst="rect">
            <a:avLst/>
          </a:prstGeom>
          <a:effectLst>
            <a:outerShdw sx="100000" sy="100000" kx="0" ky="0" algn="bl" rotWithShape="0" blurRad="101600" dist="38100" dir="5400000">
              <a:srgbClr val="000000">
                <a:alpha val="20000"/>
              </a:srgbClr>
            </a:outerShdw>
          </a:effectLst>
        </p:spPr>
      </p:pic>
      <p:sp>
        <p:nvSpPr>
          <p:cNvPr id="4" name="Pie de captura"/>
          <p:cNvSpPr txBox="1"/>
          <p:nvPr/>
        </p:nvSpPr>
        <p:spPr>
          <a:xfrm>
            <a:off x="457200" y="4023360"/>
            <a:ext cx="4754880" cy="365760"/>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Solo se pide el barrio, no tu dirección exacta</a:t>
            </a:r>
            <a:endParaRPr lang="en-US" sz="1400" dirty="0"/>
          </a:p>
        </p:txBody>
      </p:sp>
      <p:sp>
        <p:nvSpPr>
          <p:cNvPr id="5" name="Icono Pocos datos fondo"/>
          <p:cNvSpPr/>
          <p:nvPr/>
        </p:nvSpPr>
        <p:spPr>
          <a:xfrm>
            <a:off x="5486400" y="1234440"/>
            <a:ext cx="594360" cy="594360"/>
          </a:xfrm>
          <a:prstGeom prst="ellipse">
            <a:avLst/>
          </a:prstGeom>
          <a:solidFill>
            <a:srgbClr val="1D4ED8"/>
          </a:solidFill>
          <a:ln w="12700">
            <a:solidFill>
              <a:srgbClr val="1D4ED8"/>
            </a:solidFill>
            <a:prstDash val="solid"/>
          </a:ln>
        </p:spPr>
      </p:sp>
      <p:pic>
        <p:nvPicPr>
          <p:cNvPr id="6" name="Icono Pocos datos" descr="Icono Pocos datos">    </p:cNvPr>
          <p:cNvPicPr>
            <a:picLocks noChangeAspect="1"/>
          </p:cNvPicPr>
          <p:nvPr/>
        </p:nvPicPr>
        <p:blipFill>
          <a:blip r:embed="rId2"/>
          <a:stretch>
            <a:fillRect/>
          </a:stretch>
        </p:blipFill>
        <p:spPr>
          <a:xfrm>
            <a:off x="5634990" y="1383030"/>
            <a:ext cx="297180" cy="297180"/>
          </a:xfrm>
          <a:prstGeom prst="rect">
            <a:avLst/>
          </a:prstGeom>
        </p:spPr>
      </p:pic>
      <p:sp>
        <p:nvSpPr>
          <p:cNvPr id="7" name="Pocos datos"/>
          <p:cNvSpPr txBox="1"/>
          <p:nvPr/>
        </p:nvSpPr>
        <p:spPr>
          <a:xfrm>
            <a:off x="6263640" y="1207008"/>
            <a:ext cx="2423160" cy="365760"/>
          </a:xfrm>
          <a:prstGeom prst="rect">
            <a:avLst/>
          </a:prstGeom>
          <a:noFill/>
          <a:ln/>
        </p:spPr>
        <p:txBody>
          <a:bodyPr wrap="square" lIns="0" tIns="0" rIns="0" bIns="0" rtlCol="0" anchor="t"/>
          <a:lstStyle/>
          <a:p>
            <a:pPr indent="0" marL="0">
              <a:buNone/>
            </a:pPr>
            <a:r>
              <a:rPr lang="en-US" sz="1800" b="1" dirty="0">
                <a:solidFill>
                  <a:srgbClr val="1F2937"/>
                </a:solidFill>
                <a:latin typeface="Calibri" pitchFamily="34" charset="0"/>
                <a:ea typeface="Calibri" pitchFamily="34" charset="-122"/>
                <a:cs typeface="Calibri" pitchFamily="34" charset="-120"/>
              </a:rPr>
              <a:t>Pocos datos</a:t>
            </a:r>
            <a:endParaRPr lang="en-US" sz="1800" dirty="0"/>
          </a:p>
        </p:txBody>
      </p:sp>
      <p:sp>
        <p:nvSpPr>
          <p:cNvPr id="8" name="Detalle Pocos datos"/>
          <p:cNvSpPr txBox="1"/>
          <p:nvPr/>
        </p:nvSpPr>
        <p:spPr>
          <a:xfrm>
            <a:off x="6263640" y="1581912"/>
            <a:ext cx="2423160" cy="64008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Nombre, teléfono, barrio y qué necesitás</a:t>
            </a:r>
            <a:endParaRPr lang="en-US" sz="1400" dirty="0"/>
          </a:p>
        </p:txBody>
      </p:sp>
      <p:sp>
        <p:nvSpPr>
          <p:cNvPr id="9" name="Icono Datos revisados fondo"/>
          <p:cNvSpPr/>
          <p:nvPr/>
        </p:nvSpPr>
        <p:spPr>
          <a:xfrm>
            <a:off x="5486400" y="2331720"/>
            <a:ext cx="594360" cy="594360"/>
          </a:xfrm>
          <a:prstGeom prst="ellipse">
            <a:avLst/>
          </a:prstGeom>
          <a:solidFill>
            <a:srgbClr val="1D4ED8"/>
          </a:solidFill>
          <a:ln w="12700">
            <a:solidFill>
              <a:srgbClr val="1D4ED8"/>
            </a:solidFill>
            <a:prstDash val="solid"/>
          </a:ln>
        </p:spPr>
      </p:sp>
      <p:pic>
        <p:nvPicPr>
          <p:cNvPr id="10" name="Icono Datos revisados" descr="Icono Datos revisados">    </p:cNvPr>
          <p:cNvPicPr>
            <a:picLocks noChangeAspect="1"/>
          </p:cNvPicPr>
          <p:nvPr/>
        </p:nvPicPr>
        <p:blipFill>
          <a:blip r:embed="rId3"/>
          <a:stretch>
            <a:fillRect/>
          </a:stretch>
        </p:blipFill>
        <p:spPr>
          <a:xfrm>
            <a:off x="5634990" y="2480310"/>
            <a:ext cx="297180" cy="297180"/>
          </a:xfrm>
          <a:prstGeom prst="rect">
            <a:avLst/>
          </a:prstGeom>
        </p:spPr>
      </p:pic>
      <p:sp>
        <p:nvSpPr>
          <p:cNvPr id="11" name="Datos revisados"/>
          <p:cNvSpPr txBox="1"/>
          <p:nvPr/>
        </p:nvSpPr>
        <p:spPr>
          <a:xfrm>
            <a:off x="6263640" y="2304288"/>
            <a:ext cx="2423160" cy="365760"/>
          </a:xfrm>
          <a:prstGeom prst="rect">
            <a:avLst/>
          </a:prstGeom>
          <a:noFill/>
          <a:ln/>
        </p:spPr>
        <p:txBody>
          <a:bodyPr wrap="square" lIns="0" tIns="0" rIns="0" bIns="0" rtlCol="0" anchor="t"/>
          <a:lstStyle/>
          <a:p>
            <a:pPr indent="0" marL="0">
              <a:buNone/>
            </a:pPr>
            <a:r>
              <a:rPr lang="en-US" sz="1800" b="1" dirty="0">
                <a:solidFill>
                  <a:srgbClr val="1F2937"/>
                </a:solidFill>
                <a:latin typeface="Calibri" pitchFamily="34" charset="0"/>
                <a:ea typeface="Calibri" pitchFamily="34" charset="-122"/>
                <a:cs typeface="Calibri" pitchFamily="34" charset="-120"/>
              </a:rPr>
              <a:t>Datos revisados</a:t>
            </a:r>
            <a:endParaRPr lang="en-US" sz="1800" dirty="0"/>
          </a:p>
        </p:txBody>
      </p:sp>
      <p:sp>
        <p:nvSpPr>
          <p:cNvPr id="12" name="Detalle Datos revisados"/>
          <p:cNvSpPr txBox="1"/>
          <p:nvPr/>
        </p:nvSpPr>
        <p:spPr>
          <a:xfrm>
            <a:off x="6263640" y="2679192"/>
            <a:ext cx="2423160" cy="64008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El sistema avisa qué corregir antes de guardar</a:t>
            </a:r>
            <a:endParaRPr lang="en-US" sz="1400" dirty="0"/>
          </a:p>
        </p:txBody>
      </p:sp>
      <p:sp>
        <p:nvSpPr>
          <p:cNvPr id="13" name="Icono Solicitud confirmada fondo"/>
          <p:cNvSpPr/>
          <p:nvPr/>
        </p:nvSpPr>
        <p:spPr>
          <a:xfrm>
            <a:off x="5486400" y="3429000"/>
            <a:ext cx="594360" cy="594360"/>
          </a:xfrm>
          <a:prstGeom prst="ellipse">
            <a:avLst/>
          </a:prstGeom>
          <a:solidFill>
            <a:srgbClr val="0F766E"/>
          </a:solidFill>
          <a:ln w="12700">
            <a:solidFill>
              <a:srgbClr val="0F766E"/>
            </a:solidFill>
            <a:prstDash val="solid"/>
          </a:ln>
        </p:spPr>
      </p:sp>
      <p:pic>
        <p:nvPicPr>
          <p:cNvPr id="14" name="Icono Solicitud confirmada" descr="Icono Solicitud confirmada">    </p:cNvPr>
          <p:cNvPicPr>
            <a:picLocks noChangeAspect="1"/>
          </p:cNvPicPr>
          <p:nvPr/>
        </p:nvPicPr>
        <p:blipFill>
          <a:blip r:embed="rId4"/>
          <a:stretch>
            <a:fillRect/>
          </a:stretch>
        </p:blipFill>
        <p:spPr>
          <a:xfrm>
            <a:off x="5634990" y="3577590"/>
            <a:ext cx="297180" cy="297180"/>
          </a:xfrm>
          <a:prstGeom prst="rect">
            <a:avLst/>
          </a:prstGeom>
        </p:spPr>
      </p:pic>
      <p:sp>
        <p:nvSpPr>
          <p:cNvPr id="15" name="Solicitud confirmada"/>
          <p:cNvSpPr txBox="1"/>
          <p:nvPr/>
        </p:nvSpPr>
        <p:spPr>
          <a:xfrm>
            <a:off x="6263640" y="3401568"/>
            <a:ext cx="2423160" cy="365760"/>
          </a:xfrm>
          <a:prstGeom prst="rect">
            <a:avLst/>
          </a:prstGeom>
          <a:noFill/>
          <a:ln/>
        </p:spPr>
        <p:txBody>
          <a:bodyPr wrap="square" lIns="0" tIns="0" rIns="0" bIns="0" rtlCol="0" anchor="t"/>
          <a:lstStyle/>
          <a:p>
            <a:pPr indent="0" marL="0">
              <a:buNone/>
            </a:pPr>
            <a:r>
              <a:rPr lang="en-US" sz="1800" b="1" dirty="0">
                <a:solidFill>
                  <a:srgbClr val="1F2937"/>
                </a:solidFill>
                <a:latin typeface="Calibri" pitchFamily="34" charset="0"/>
                <a:ea typeface="Calibri" pitchFamily="34" charset="-122"/>
                <a:cs typeface="Calibri" pitchFamily="34" charset="-120"/>
              </a:rPr>
              <a:t>Solicitud confirmada</a:t>
            </a:r>
            <a:endParaRPr lang="en-US" sz="1800" dirty="0"/>
          </a:p>
        </p:txBody>
      </p:sp>
      <p:sp>
        <p:nvSpPr>
          <p:cNvPr id="16" name="Detalle Solicitud confirmada"/>
          <p:cNvSpPr txBox="1"/>
          <p:nvPr/>
        </p:nvSpPr>
        <p:spPr>
          <a:xfrm>
            <a:off x="6263640" y="3776472"/>
            <a:ext cx="2423160" cy="64008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Cuando el servidor la acepta, queda registrada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Con qué construimos ConectaPro</a:t>
            </a:r>
            <a:endParaRPr lang="en-US" sz="3200" dirty="0"/>
          </a:p>
        </p:txBody>
      </p:sp>
      <p:sp>
        <p:nvSpPr>
          <p:cNvPr id="3" name="Grupo Desarrollo"/>
          <p:cNvSpPr/>
          <p:nvPr/>
        </p:nvSpPr>
        <p:spPr>
          <a:xfrm>
            <a:off x="457200" y="1097280"/>
            <a:ext cx="1828800" cy="2788920"/>
          </a:xfrm>
          <a:prstGeom prst="roundRect">
            <a:avLst>
              <a:gd name="adj" fmla="val 6000"/>
            </a:avLst>
          </a:prstGeom>
          <a:solidFill>
            <a:srgbClr val="F4F6FA"/>
          </a:solidFill>
          <a:ln w="9525">
            <a:solidFill>
              <a:srgbClr val="D9DEE8"/>
            </a:solidFill>
            <a:prstDash val="solid"/>
          </a:ln>
        </p:spPr>
      </p:sp>
      <p:sp>
        <p:nvSpPr>
          <p:cNvPr id="4" name="Cabecera Desarrollo"/>
          <p:cNvSpPr/>
          <p:nvPr/>
        </p:nvSpPr>
        <p:spPr>
          <a:xfrm>
            <a:off x="457200" y="1097280"/>
            <a:ext cx="1828800" cy="411480"/>
          </a:xfrm>
          <a:prstGeom prst="roundRect">
            <a:avLst>
              <a:gd name="adj" fmla="val 26667"/>
            </a:avLst>
          </a:prstGeom>
          <a:solidFill>
            <a:srgbClr val="14275E"/>
          </a:solidFill>
          <a:ln w="12700">
            <a:solidFill>
              <a:srgbClr val="14275E"/>
            </a:solidFill>
            <a:prstDash val="solid"/>
          </a:ln>
        </p:spPr>
      </p:sp>
      <p:sp>
        <p:nvSpPr>
          <p:cNvPr id="5" name="Título Desarrollo"/>
          <p:cNvSpPr txBox="1"/>
          <p:nvPr/>
        </p:nvSpPr>
        <p:spPr>
          <a:xfrm>
            <a:off x="457200" y="1097280"/>
            <a:ext cx="18288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Desarrollo</a:t>
            </a:r>
            <a:endParaRPr lang="en-US" sz="1400" dirty="0"/>
          </a:p>
        </p:txBody>
      </p:sp>
      <p:sp>
        <p:nvSpPr>
          <p:cNvPr id="6" name="Visual Studio Code"/>
          <p:cNvSpPr txBox="1"/>
          <p:nvPr/>
        </p:nvSpPr>
        <p:spPr>
          <a:xfrm>
            <a:off x="594360" y="1609344"/>
            <a:ext cx="160020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Visual Studio Code</a:t>
            </a:r>
            <a:endParaRPr lang="en-US" sz="1400" dirty="0"/>
          </a:p>
        </p:txBody>
      </p:sp>
      <p:sp>
        <p:nvSpPr>
          <p:cNvPr id="7" name="Función Visual Studio Code"/>
          <p:cNvSpPr txBox="1"/>
          <p:nvPr/>
        </p:nvSpPr>
        <p:spPr>
          <a:xfrm>
            <a:off x="594360" y="1892808"/>
            <a:ext cx="160020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Donde escribimos el código</a:t>
            </a:r>
            <a:endParaRPr lang="en-US" sz="1300" dirty="0"/>
          </a:p>
        </p:txBody>
      </p:sp>
      <p:sp>
        <p:nvSpPr>
          <p:cNvPr id="8" name="Git"/>
          <p:cNvSpPr txBox="1"/>
          <p:nvPr/>
        </p:nvSpPr>
        <p:spPr>
          <a:xfrm>
            <a:off x="594360" y="2340864"/>
            <a:ext cx="160020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Git</a:t>
            </a:r>
            <a:endParaRPr lang="en-US" sz="1400" dirty="0"/>
          </a:p>
        </p:txBody>
      </p:sp>
      <p:sp>
        <p:nvSpPr>
          <p:cNvPr id="9" name="Función Git"/>
          <p:cNvSpPr txBox="1"/>
          <p:nvPr/>
        </p:nvSpPr>
        <p:spPr>
          <a:xfrm>
            <a:off x="594360" y="2624328"/>
            <a:ext cx="160020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Registra versiones e historial de cambios</a:t>
            </a:r>
            <a:endParaRPr lang="en-US" sz="1300" dirty="0"/>
          </a:p>
        </p:txBody>
      </p:sp>
      <p:sp>
        <p:nvSpPr>
          <p:cNvPr id="10" name="GitHub"/>
          <p:cNvSpPr txBox="1"/>
          <p:nvPr/>
        </p:nvSpPr>
        <p:spPr>
          <a:xfrm>
            <a:off x="594360" y="3072384"/>
            <a:ext cx="160020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GitHub</a:t>
            </a:r>
            <a:endParaRPr lang="en-US" sz="1400" dirty="0"/>
          </a:p>
        </p:txBody>
      </p:sp>
      <p:sp>
        <p:nvSpPr>
          <p:cNvPr id="11" name="Función GitHub"/>
          <p:cNvSpPr txBox="1"/>
          <p:nvPr/>
        </p:nvSpPr>
        <p:spPr>
          <a:xfrm>
            <a:off x="594360" y="3355848"/>
            <a:ext cx="160020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Repositorio compartido del equipo</a:t>
            </a:r>
            <a:endParaRPr lang="en-US" sz="1300" dirty="0"/>
          </a:p>
        </p:txBody>
      </p:sp>
      <p:sp>
        <p:nvSpPr>
          <p:cNvPr id="12" name="Grupo Interfaz"/>
          <p:cNvSpPr/>
          <p:nvPr/>
        </p:nvSpPr>
        <p:spPr>
          <a:xfrm>
            <a:off x="2423160" y="1097280"/>
            <a:ext cx="2240280" cy="2788920"/>
          </a:xfrm>
          <a:prstGeom prst="roundRect">
            <a:avLst>
              <a:gd name="adj" fmla="val 4898"/>
            </a:avLst>
          </a:prstGeom>
          <a:solidFill>
            <a:srgbClr val="F4F6FA"/>
          </a:solidFill>
          <a:ln w="9525">
            <a:solidFill>
              <a:srgbClr val="D9DEE8"/>
            </a:solidFill>
            <a:prstDash val="solid"/>
          </a:ln>
        </p:spPr>
      </p:sp>
      <p:sp>
        <p:nvSpPr>
          <p:cNvPr id="13" name="Cabecera Interfaz"/>
          <p:cNvSpPr/>
          <p:nvPr/>
        </p:nvSpPr>
        <p:spPr>
          <a:xfrm>
            <a:off x="2423160" y="1097280"/>
            <a:ext cx="2240280" cy="411480"/>
          </a:xfrm>
          <a:prstGeom prst="roundRect">
            <a:avLst>
              <a:gd name="adj" fmla="val 26667"/>
            </a:avLst>
          </a:prstGeom>
          <a:solidFill>
            <a:srgbClr val="1D4ED8"/>
          </a:solidFill>
          <a:ln w="12700">
            <a:solidFill>
              <a:srgbClr val="1D4ED8"/>
            </a:solidFill>
            <a:prstDash val="solid"/>
          </a:ln>
        </p:spPr>
      </p:sp>
      <p:sp>
        <p:nvSpPr>
          <p:cNvPr id="14" name="Título Interfaz"/>
          <p:cNvSpPr txBox="1"/>
          <p:nvPr/>
        </p:nvSpPr>
        <p:spPr>
          <a:xfrm>
            <a:off x="2423160" y="1097280"/>
            <a:ext cx="22402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Interfaz</a:t>
            </a:r>
            <a:endParaRPr lang="en-US" sz="1400" dirty="0"/>
          </a:p>
        </p:txBody>
      </p:sp>
      <p:sp>
        <p:nvSpPr>
          <p:cNvPr id="15" name="React"/>
          <p:cNvSpPr txBox="1"/>
          <p:nvPr/>
        </p:nvSpPr>
        <p:spPr>
          <a:xfrm>
            <a:off x="2560320" y="1609344"/>
            <a:ext cx="201168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React</a:t>
            </a:r>
            <a:endParaRPr lang="en-US" sz="1400" dirty="0"/>
          </a:p>
        </p:txBody>
      </p:sp>
      <p:sp>
        <p:nvSpPr>
          <p:cNvPr id="16" name="Función React"/>
          <p:cNvSpPr txBox="1"/>
          <p:nvPr/>
        </p:nvSpPr>
        <p:spPr>
          <a:xfrm>
            <a:off x="2560320" y="1892808"/>
            <a:ext cx="201168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Arma la pantalla en piezas</a:t>
            </a:r>
            <a:endParaRPr lang="en-US" sz="1300" dirty="0"/>
          </a:p>
        </p:txBody>
      </p:sp>
      <p:sp>
        <p:nvSpPr>
          <p:cNvPr id="17" name="Vite"/>
          <p:cNvSpPr txBox="1"/>
          <p:nvPr/>
        </p:nvSpPr>
        <p:spPr>
          <a:xfrm>
            <a:off x="2560320" y="2340864"/>
            <a:ext cx="201168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Vite</a:t>
            </a:r>
            <a:endParaRPr lang="en-US" sz="1400" dirty="0"/>
          </a:p>
        </p:txBody>
      </p:sp>
      <p:sp>
        <p:nvSpPr>
          <p:cNvPr id="18" name="Función Vite"/>
          <p:cNvSpPr txBox="1"/>
          <p:nvPr/>
        </p:nvSpPr>
        <p:spPr>
          <a:xfrm>
            <a:off x="2560320" y="2624328"/>
            <a:ext cx="201168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Prepara la web para el navegador</a:t>
            </a:r>
            <a:endParaRPr lang="en-US" sz="1300" dirty="0"/>
          </a:p>
        </p:txBody>
      </p:sp>
      <p:sp>
        <p:nvSpPr>
          <p:cNvPr id="19" name="HTML, CSS y JavaScript"/>
          <p:cNvSpPr txBox="1"/>
          <p:nvPr/>
        </p:nvSpPr>
        <p:spPr>
          <a:xfrm>
            <a:off x="2560320" y="3072384"/>
            <a:ext cx="201168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HTML, CSS y JavaScript</a:t>
            </a:r>
            <a:endParaRPr lang="en-US" sz="1400" dirty="0"/>
          </a:p>
        </p:txBody>
      </p:sp>
      <p:sp>
        <p:nvSpPr>
          <p:cNvPr id="20" name="Función HTML, CSS y JavaScript"/>
          <p:cNvSpPr txBox="1"/>
          <p:nvPr/>
        </p:nvSpPr>
        <p:spPr>
          <a:xfrm>
            <a:off x="2560320" y="3355848"/>
            <a:ext cx="201168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Estructura, estilo y comportamiento</a:t>
            </a:r>
            <a:endParaRPr lang="en-US" sz="1300" dirty="0"/>
          </a:p>
        </p:txBody>
      </p:sp>
      <p:sp>
        <p:nvSpPr>
          <p:cNvPr id="21" name="Grupo Servidor y datos"/>
          <p:cNvSpPr/>
          <p:nvPr/>
        </p:nvSpPr>
        <p:spPr>
          <a:xfrm>
            <a:off x="4800600" y="1097280"/>
            <a:ext cx="1737360" cy="2788920"/>
          </a:xfrm>
          <a:prstGeom prst="roundRect">
            <a:avLst>
              <a:gd name="adj" fmla="val 6316"/>
            </a:avLst>
          </a:prstGeom>
          <a:solidFill>
            <a:srgbClr val="F4F6FA"/>
          </a:solidFill>
          <a:ln w="9525">
            <a:solidFill>
              <a:srgbClr val="D9DEE8"/>
            </a:solidFill>
            <a:prstDash val="solid"/>
          </a:ln>
        </p:spPr>
      </p:sp>
      <p:sp>
        <p:nvSpPr>
          <p:cNvPr id="22" name="Cabecera Servidor y datos"/>
          <p:cNvSpPr/>
          <p:nvPr/>
        </p:nvSpPr>
        <p:spPr>
          <a:xfrm>
            <a:off x="4800600" y="1097280"/>
            <a:ext cx="1737360" cy="411480"/>
          </a:xfrm>
          <a:prstGeom prst="roundRect">
            <a:avLst>
              <a:gd name="adj" fmla="val 26667"/>
            </a:avLst>
          </a:prstGeom>
          <a:solidFill>
            <a:srgbClr val="BE185D"/>
          </a:solidFill>
          <a:ln w="12700">
            <a:solidFill>
              <a:srgbClr val="BE185D"/>
            </a:solidFill>
            <a:prstDash val="solid"/>
          </a:ln>
        </p:spPr>
      </p:sp>
      <p:sp>
        <p:nvSpPr>
          <p:cNvPr id="23" name="Título Servidor y datos"/>
          <p:cNvSpPr txBox="1"/>
          <p:nvPr/>
        </p:nvSpPr>
        <p:spPr>
          <a:xfrm>
            <a:off x="4800600" y="1097280"/>
            <a:ext cx="17373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Servidor y datos</a:t>
            </a:r>
            <a:endParaRPr lang="en-US" sz="1400" dirty="0"/>
          </a:p>
        </p:txBody>
      </p:sp>
      <p:sp>
        <p:nvSpPr>
          <p:cNvPr id="24" name="PHP y Laravel"/>
          <p:cNvSpPr txBox="1"/>
          <p:nvPr/>
        </p:nvSpPr>
        <p:spPr>
          <a:xfrm>
            <a:off x="4937760" y="1609344"/>
            <a:ext cx="150876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PHP y Laravel</a:t>
            </a:r>
            <a:endParaRPr lang="en-US" sz="1400" dirty="0"/>
          </a:p>
        </p:txBody>
      </p:sp>
      <p:sp>
        <p:nvSpPr>
          <p:cNvPr id="25" name="Función PHP y Laravel"/>
          <p:cNvSpPr txBox="1"/>
          <p:nvPr/>
        </p:nvSpPr>
        <p:spPr>
          <a:xfrm>
            <a:off x="4937760" y="1892808"/>
            <a:ext cx="150876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Reciben y validan los pedidos</a:t>
            </a:r>
            <a:endParaRPr lang="en-US" sz="1300" dirty="0"/>
          </a:p>
        </p:txBody>
      </p:sp>
      <p:sp>
        <p:nvSpPr>
          <p:cNvPr id="26" name="MySQL"/>
          <p:cNvSpPr txBox="1"/>
          <p:nvPr/>
        </p:nvSpPr>
        <p:spPr>
          <a:xfrm>
            <a:off x="4937760" y="2340864"/>
            <a:ext cx="150876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MySQL</a:t>
            </a:r>
            <a:endParaRPr lang="en-US" sz="1400" dirty="0"/>
          </a:p>
        </p:txBody>
      </p:sp>
      <p:sp>
        <p:nvSpPr>
          <p:cNvPr id="27" name="Función MySQL"/>
          <p:cNvSpPr txBox="1"/>
          <p:nvPr/>
        </p:nvSpPr>
        <p:spPr>
          <a:xfrm>
            <a:off x="4937760" y="2624328"/>
            <a:ext cx="150876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Guarda las solicitudes</a:t>
            </a:r>
            <a:endParaRPr lang="en-US" sz="1300" dirty="0"/>
          </a:p>
        </p:txBody>
      </p:sp>
      <p:sp>
        <p:nvSpPr>
          <p:cNvPr id="28" name="Grupo Publicación y conexión"/>
          <p:cNvSpPr/>
          <p:nvPr/>
        </p:nvSpPr>
        <p:spPr>
          <a:xfrm>
            <a:off x="6675120" y="1097280"/>
            <a:ext cx="2011680" cy="2788920"/>
          </a:xfrm>
          <a:prstGeom prst="roundRect">
            <a:avLst>
              <a:gd name="adj" fmla="val 5455"/>
            </a:avLst>
          </a:prstGeom>
          <a:solidFill>
            <a:srgbClr val="F4F6FA"/>
          </a:solidFill>
          <a:ln w="9525">
            <a:solidFill>
              <a:srgbClr val="D9DEE8"/>
            </a:solidFill>
            <a:prstDash val="solid"/>
          </a:ln>
        </p:spPr>
      </p:sp>
      <p:sp>
        <p:nvSpPr>
          <p:cNvPr id="29" name="Cabecera Publicación y conexión"/>
          <p:cNvSpPr/>
          <p:nvPr/>
        </p:nvSpPr>
        <p:spPr>
          <a:xfrm>
            <a:off x="6675120" y="1097280"/>
            <a:ext cx="2011680" cy="411480"/>
          </a:xfrm>
          <a:prstGeom prst="roundRect">
            <a:avLst>
              <a:gd name="adj" fmla="val 26667"/>
            </a:avLst>
          </a:prstGeom>
          <a:solidFill>
            <a:srgbClr val="0F766E"/>
          </a:solidFill>
          <a:ln w="12700">
            <a:solidFill>
              <a:srgbClr val="0F766E"/>
            </a:solidFill>
            <a:prstDash val="solid"/>
          </a:ln>
        </p:spPr>
      </p:sp>
      <p:sp>
        <p:nvSpPr>
          <p:cNvPr id="30" name="Título Publicación y conexión"/>
          <p:cNvSpPr txBox="1"/>
          <p:nvPr/>
        </p:nvSpPr>
        <p:spPr>
          <a:xfrm>
            <a:off x="6675120" y="1097280"/>
            <a:ext cx="20116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Publicación y conexión</a:t>
            </a:r>
            <a:endParaRPr lang="en-US" sz="1400" dirty="0"/>
          </a:p>
        </p:txBody>
      </p:sp>
      <p:sp>
        <p:nvSpPr>
          <p:cNvPr id="31" name="Vercel"/>
          <p:cNvSpPr txBox="1"/>
          <p:nvPr/>
        </p:nvSpPr>
        <p:spPr>
          <a:xfrm>
            <a:off x="6812280" y="1609344"/>
            <a:ext cx="178308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Vercel</a:t>
            </a:r>
            <a:endParaRPr lang="en-US" sz="1400" dirty="0"/>
          </a:p>
        </p:txBody>
      </p:sp>
      <p:sp>
        <p:nvSpPr>
          <p:cNvPr id="32" name="Función Vercel"/>
          <p:cNvSpPr txBox="1"/>
          <p:nvPr/>
        </p:nvSpPr>
        <p:spPr>
          <a:xfrm>
            <a:off x="6812280" y="1892808"/>
            <a:ext cx="178308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Publica la interfaz en internet</a:t>
            </a:r>
            <a:endParaRPr lang="en-US" sz="1300" dirty="0"/>
          </a:p>
        </p:txBody>
      </p:sp>
      <p:sp>
        <p:nvSpPr>
          <p:cNvPr id="33" name="ngrok"/>
          <p:cNvSpPr txBox="1"/>
          <p:nvPr/>
        </p:nvSpPr>
        <p:spPr>
          <a:xfrm>
            <a:off x="6812280" y="2340864"/>
            <a:ext cx="1783080" cy="2743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ngrok</a:t>
            </a:r>
            <a:endParaRPr lang="en-US" sz="1400" dirty="0"/>
          </a:p>
        </p:txBody>
      </p:sp>
      <p:sp>
        <p:nvSpPr>
          <p:cNvPr id="34" name="Función ngrok"/>
          <p:cNvSpPr txBox="1"/>
          <p:nvPr/>
        </p:nvSpPr>
        <p:spPr>
          <a:xfrm>
            <a:off x="6812280" y="2624328"/>
            <a:ext cx="1783080" cy="384048"/>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Conecta la web con el servidor</a:t>
            </a:r>
            <a:endParaRPr lang="en-US" sz="1300" dirty="0"/>
          </a:p>
        </p:txBody>
      </p:sp>
      <p:sp>
        <p:nvSpPr>
          <p:cNvPr id="35" name="Etiqueta proceso"/>
          <p:cNvSpPr txBox="1"/>
          <p:nvPr/>
        </p:nvSpPr>
        <p:spPr>
          <a:xfrm>
            <a:off x="457200" y="3931920"/>
            <a:ext cx="3657600" cy="201168"/>
          </a:xfrm>
          <a:prstGeom prst="rect">
            <a:avLst/>
          </a:prstGeom>
          <a:noFill/>
          <a:ln/>
        </p:spPr>
        <p:txBody>
          <a:bodyPr wrap="square" lIns="0" tIns="0" rIns="0" bIns="0" rtlCol="0" anchor="ctr"/>
          <a:lstStyle/>
          <a:p>
            <a:pPr indent="0" marL="0">
              <a:buNone/>
            </a:pPr>
            <a:r>
              <a:rPr lang="en-US" sz="1200" b="1" dirty="0">
                <a:solidFill>
                  <a:srgbClr val="4B5563"/>
                </a:solidFill>
                <a:latin typeface="Calibri" pitchFamily="34" charset="0"/>
                <a:ea typeface="Calibri" pitchFamily="34" charset="-122"/>
                <a:cs typeface="Calibri" pitchFamily="34" charset="-120"/>
              </a:rPr>
              <a:t>Cómo fue el proceso</a:t>
            </a:r>
            <a:endParaRPr lang="en-US" sz="1200" dirty="0"/>
          </a:p>
        </p:txBody>
      </p:sp>
      <p:sp>
        <p:nvSpPr>
          <p:cNvPr id="36" name="Etapa 1 fondo"/>
          <p:cNvSpPr/>
          <p:nvPr/>
        </p:nvSpPr>
        <p:spPr>
          <a:xfrm>
            <a:off x="457200" y="4169664"/>
            <a:ext cx="1691640" cy="502920"/>
          </a:xfrm>
          <a:prstGeom prst="chevron">
            <a:avLst/>
          </a:prstGeom>
          <a:solidFill>
            <a:srgbClr val="1D4ED8"/>
          </a:solidFill>
          <a:ln w="12700">
            <a:solidFill>
              <a:srgbClr val="FFFFFF"/>
            </a:solidFill>
            <a:prstDash val="solid"/>
          </a:ln>
        </p:spPr>
      </p:sp>
      <p:sp>
        <p:nvSpPr>
          <p:cNvPr id="37" name="Etapa 1"/>
          <p:cNvSpPr txBox="1"/>
          <p:nvPr/>
        </p:nvSpPr>
        <p:spPr>
          <a:xfrm>
            <a:off x="786384" y="4169664"/>
            <a:ext cx="10515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Idea y análisis</a:t>
            </a:r>
            <a:endParaRPr lang="en-US" sz="1200" dirty="0"/>
          </a:p>
        </p:txBody>
      </p:sp>
      <p:sp>
        <p:nvSpPr>
          <p:cNvPr id="38" name="Etapa 2 fondo"/>
          <p:cNvSpPr/>
          <p:nvPr/>
        </p:nvSpPr>
        <p:spPr>
          <a:xfrm>
            <a:off x="2084832" y="4169664"/>
            <a:ext cx="1691640" cy="502920"/>
          </a:xfrm>
          <a:prstGeom prst="chevron">
            <a:avLst/>
          </a:prstGeom>
          <a:solidFill>
            <a:srgbClr val="1D4ED8"/>
          </a:solidFill>
          <a:ln w="12700">
            <a:solidFill>
              <a:srgbClr val="FFFFFF"/>
            </a:solidFill>
            <a:prstDash val="solid"/>
          </a:ln>
        </p:spPr>
      </p:sp>
      <p:sp>
        <p:nvSpPr>
          <p:cNvPr id="39" name="Etapa 2"/>
          <p:cNvSpPr txBox="1"/>
          <p:nvPr/>
        </p:nvSpPr>
        <p:spPr>
          <a:xfrm>
            <a:off x="2414016" y="4169664"/>
            <a:ext cx="10515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Diseño de la interfaz</a:t>
            </a:r>
            <a:endParaRPr lang="en-US" sz="1200" dirty="0"/>
          </a:p>
        </p:txBody>
      </p:sp>
      <p:sp>
        <p:nvSpPr>
          <p:cNvPr id="40" name="Etapa 3 fondo"/>
          <p:cNvSpPr/>
          <p:nvPr/>
        </p:nvSpPr>
        <p:spPr>
          <a:xfrm>
            <a:off x="3712464" y="4169664"/>
            <a:ext cx="1691640" cy="502920"/>
          </a:xfrm>
          <a:prstGeom prst="chevron">
            <a:avLst/>
          </a:prstGeom>
          <a:solidFill>
            <a:srgbClr val="1D4ED8"/>
          </a:solidFill>
          <a:ln w="12700">
            <a:solidFill>
              <a:srgbClr val="FFFFFF"/>
            </a:solidFill>
            <a:prstDash val="solid"/>
          </a:ln>
        </p:spPr>
      </p:sp>
      <p:sp>
        <p:nvSpPr>
          <p:cNvPr id="41" name="Etapa 3"/>
          <p:cNvSpPr txBox="1"/>
          <p:nvPr/>
        </p:nvSpPr>
        <p:spPr>
          <a:xfrm>
            <a:off x="4041648" y="4169664"/>
            <a:ext cx="10515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Desarrollo front y back</a:t>
            </a:r>
            <a:endParaRPr lang="en-US" sz="1200" dirty="0"/>
          </a:p>
        </p:txBody>
      </p:sp>
      <p:sp>
        <p:nvSpPr>
          <p:cNvPr id="42" name="Etapa 4 fondo"/>
          <p:cNvSpPr/>
          <p:nvPr/>
        </p:nvSpPr>
        <p:spPr>
          <a:xfrm>
            <a:off x="5340096" y="4169664"/>
            <a:ext cx="1691640" cy="502920"/>
          </a:xfrm>
          <a:prstGeom prst="chevron">
            <a:avLst/>
          </a:prstGeom>
          <a:solidFill>
            <a:srgbClr val="1D4ED8"/>
          </a:solidFill>
          <a:ln w="12700">
            <a:solidFill>
              <a:srgbClr val="FFFFFF"/>
            </a:solidFill>
            <a:prstDash val="solid"/>
          </a:ln>
        </p:spPr>
      </p:sp>
      <p:sp>
        <p:nvSpPr>
          <p:cNvPr id="43" name="Etapa 4"/>
          <p:cNvSpPr txBox="1"/>
          <p:nvPr/>
        </p:nvSpPr>
        <p:spPr>
          <a:xfrm>
            <a:off x="5669280" y="4169664"/>
            <a:ext cx="10515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Integración y pruebas</a:t>
            </a:r>
            <a:endParaRPr lang="en-US" sz="1200" dirty="0"/>
          </a:p>
        </p:txBody>
      </p:sp>
      <p:sp>
        <p:nvSpPr>
          <p:cNvPr id="44" name="Etapa 5 fondo"/>
          <p:cNvSpPr/>
          <p:nvPr/>
        </p:nvSpPr>
        <p:spPr>
          <a:xfrm>
            <a:off x="6967728" y="4169664"/>
            <a:ext cx="1691640" cy="502920"/>
          </a:xfrm>
          <a:prstGeom prst="chevron">
            <a:avLst/>
          </a:prstGeom>
          <a:solidFill>
            <a:srgbClr val="BE185D"/>
          </a:solidFill>
          <a:ln w="12700">
            <a:solidFill>
              <a:srgbClr val="FFFFFF"/>
            </a:solidFill>
            <a:prstDash val="solid"/>
          </a:ln>
        </p:spPr>
      </p:sp>
      <p:sp>
        <p:nvSpPr>
          <p:cNvPr id="45" name="Etapa 5"/>
          <p:cNvSpPr txBox="1"/>
          <p:nvPr/>
        </p:nvSpPr>
        <p:spPr>
          <a:xfrm>
            <a:off x="7296912" y="4169664"/>
            <a:ext cx="10515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Publicación y demostración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Del navegador a la base de datos</a:t>
            </a:r>
            <a:endParaRPr lang="en-US" sz="3200" dirty="0"/>
          </a:p>
        </p:txBody>
      </p:sp>
      <p:sp>
        <p:nvSpPr>
          <p:cNvPr id="3" name="Banda código"/>
          <p:cNvSpPr/>
          <p:nvPr/>
        </p:nvSpPr>
        <p:spPr>
          <a:xfrm>
            <a:off x="457200" y="1097280"/>
            <a:ext cx="8229600" cy="868680"/>
          </a:xfrm>
          <a:prstGeom prst="roundRect">
            <a:avLst>
              <a:gd name="adj" fmla="val 10526"/>
            </a:avLst>
          </a:prstGeom>
          <a:solidFill>
            <a:srgbClr val="F4F6FA"/>
          </a:solidFill>
          <a:ln w="9525">
            <a:solidFill>
              <a:srgbClr val="D9DEE8"/>
            </a:solidFill>
            <a:prstDash val="solid"/>
          </a:ln>
        </p:spPr>
      </p:sp>
      <p:sp>
        <p:nvSpPr>
          <p:cNvPr id="4" name="Etiqueta banda código"/>
          <p:cNvSpPr txBox="1"/>
          <p:nvPr/>
        </p:nvSpPr>
        <p:spPr>
          <a:xfrm>
            <a:off x="640080" y="1161288"/>
            <a:ext cx="3657600" cy="228600"/>
          </a:xfrm>
          <a:prstGeom prst="rect">
            <a:avLst/>
          </a:prstGeom>
          <a:noFill/>
          <a:ln/>
        </p:spPr>
        <p:txBody>
          <a:bodyPr wrap="square" lIns="0" tIns="0" rIns="0" bIns="0" rtlCol="0" anchor="ctr"/>
          <a:lstStyle/>
          <a:p>
            <a:pPr indent="0" marL="0">
              <a:buNone/>
            </a:pPr>
            <a:r>
              <a:rPr lang="en-US" sz="1100" b="1" spc="200" kern="0" dirty="0">
                <a:solidFill>
                  <a:srgbClr val="4B5563"/>
                </a:solidFill>
                <a:latin typeface="Calibri" pitchFamily="34" charset="0"/>
                <a:ea typeface="Calibri" pitchFamily="34" charset="-122"/>
                <a:cs typeface="Calibri" pitchFamily="34" charset="-120"/>
              </a:rPr>
              <a:t>DESARROLLO DEL CÓDIGO</a:t>
            </a:r>
            <a:endParaRPr lang="en-US" sz="1100" dirty="0"/>
          </a:p>
        </p:txBody>
      </p:sp>
      <p:sp>
        <p:nvSpPr>
          <p:cNvPr id="5" name="Herramienta Visual Studio Code"/>
          <p:cNvSpPr/>
          <p:nvPr/>
        </p:nvSpPr>
        <p:spPr>
          <a:xfrm>
            <a:off x="640080" y="1435608"/>
            <a:ext cx="1600200" cy="420624"/>
          </a:xfrm>
          <a:prstGeom prst="roundRect">
            <a:avLst>
              <a:gd name="adj" fmla="val 17391"/>
            </a:avLst>
          </a:prstGeom>
          <a:solidFill>
            <a:srgbClr val="FFFFFF"/>
          </a:solidFill>
          <a:ln w="15875">
            <a:solidFill>
              <a:srgbClr val="14275E"/>
            </a:solidFill>
            <a:prstDash val="solid"/>
          </a:ln>
        </p:spPr>
      </p:sp>
      <p:sp>
        <p:nvSpPr>
          <p:cNvPr id="6" name="Texto Visual Studio Code"/>
          <p:cNvSpPr txBox="1"/>
          <p:nvPr/>
        </p:nvSpPr>
        <p:spPr>
          <a:xfrm>
            <a:off x="640080" y="1435608"/>
            <a:ext cx="1600200" cy="420624"/>
          </a:xfrm>
          <a:prstGeom prst="rect">
            <a:avLst/>
          </a:prstGeom>
          <a:noFill/>
          <a:ln/>
        </p:spPr>
        <p:txBody>
          <a:bodyPr wrap="square" lIns="0" tIns="0" rIns="0" bIns="0" rtlCol="0" anchor="ctr"/>
          <a:lstStyle/>
          <a:p>
            <a:pPr algn="ctr" indent="0" marL="0">
              <a:buNone/>
            </a:pPr>
            <a:r>
              <a:rPr lang="en-US" sz="1300" b="1" dirty="0">
                <a:solidFill>
                  <a:srgbClr val="14275E"/>
                </a:solidFill>
                <a:latin typeface="Calibri" pitchFamily="34" charset="0"/>
                <a:ea typeface="Calibri" pitchFamily="34" charset="-122"/>
                <a:cs typeface="Calibri" pitchFamily="34" charset="-120"/>
              </a:rPr>
              <a:t>Visual Studio Code</a:t>
            </a:r>
            <a:endParaRPr lang="en-US" sz="1300" dirty="0"/>
          </a:p>
        </p:txBody>
      </p:sp>
      <p:sp>
        <p:nvSpPr>
          <p:cNvPr id="7" name="Flecha código 1"/>
          <p:cNvSpPr/>
          <p:nvPr/>
        </p:nvSpPr>
        <p:spPr>
          <a:xfrm>
            <a:off x="2267712" y="1645920"/>
            <a:ext cx="219456" cy="0"/>
          </a:xfrm>
          <a:prstGeom prst="line">
            <a:avLst/>
          </a:prstGeom>
          <a:noFill/>
          <a:ln w="25400">
            <a:solidFill>
              <a:srgbClr val="14275E"/>
            </a:solidFill>
            <a:prstDash val="solid"/>
            <a:tailEnd type="triangle"/>
          </a:ln>
        </p:spPr>
      </p:sp>
      <p:sp>
        <p:nvSpPr>
          <p:cNvPr id="8" name="Herramienta Git"/>
          <p:cNvSpPr/>
          <p:nvPr/>
        </p:nvSpPr>
        <p:spPr>
          <a:xfrm>
            <a:off x="2514600" y="1435608"/>
            <a:ext cx="1600200" cy="420624"/>
          </a:xfrm>
          <a:prstGeom prst="roundRect">
            <a:avLst>
              <a:gd name="adj" fmla="val 17391"/>
            </a:avLst>
          </a:prstGeom>
          <a:solidFill>
            <a:srgbClr val="FFFFFF"/>
          </a:solidFill>
          <a:ln w="15875">
            <a:solidFill>
              <a:srgbClr val="14275E"/>
            </a:solidFill>
            <a:prstDash val="solid"/>
          </a:ln>
        </p:spPr>
      </p:sp>
      <p:sp>
        <p:nvSpPr>
          <p:cNvPr id="9" name="Texto Git"/>
          <p:cNvSpPr txBox="1"/>
          <p:nvPr/>
        </p:nvSpPr>
        <p:spPr>
          <a:xfrm>
            <a:off x="2514600" y="1435608"/>
            <a:ext cx="1600200" cy="420624"/>
          </a:xfrm>
          <a:prstGeom prst="rect">
            <a:avLst/>
          </a:prstGeom>
          <a:noFill/>
          <a:ln/>
        </p:spPr>
        <p:txBody>
          <a:bodyPr wrap="square" lIns="0" tIns="0" rIns="0" bIns="0" rtlCol="0" anchor="ctr"/>
          <a:lstStyle/>
          <a:p>
            <a:pPr algn="ctr" indent="0" marL="0">
              <a:buNone/>
            </a:pPr>
            <a:r>
              <a:rPr lang="en-US" sz="1300" b="1" dirty="0">
                <a:solidFill>
                  <a:srgbClr val="14275E"/>
                </a:solidFill>
                <a:latin typeface="Calibri" pitchFamily="34" charset="0"/>
                <a:ea typeface="Calibri" pitchFamily="34" charset="-122"/>
                <a:cs typeface="Calibri" pitchFamily="34" charset="-120"/>
              </a:rPr>
              <a:t>Git</a:t>
            </a:r>
            <a:endParaRPr lang="en-US" sz="1300" dirty="0"/>
          </a:p>
        </p:txBody>
      </p:sp>
      <p:sp>
        <p:nvSpPr>
          <p:cNvPr id="10" name="Flecha código 2"/>
          <p:cNvSpPr/>
          <p:nvPr/>
        </p:nvSpPr>
        <p:spPr>
          <a:xfrm>
            <a:off x="4142232" y="1645920"/>
            <a:ext cx="219456" cy="0"/>
          </a:xfrm>
          <a:prstGeom prst="line">
            <a:avLst/>
          </a:prstGeom>
          <a:noFill/>
          <a:ln w="25400">
            <a:solidFill>
              <a:srgbClr val="14275E"/>
            </a:solidFill>
            <a:prstDash val="solid"/>
            <a:tailEnd type="triangle"/>
          </a:ln>
        </p:spPr>
      </p:sp>
      <p:sp>
        <p:nvSpPr>
          <p:cNvPr id="11" name="Herramienta GitHub"/>
          <p:cNvSpPr/>
          <p:nvPr/>
        </p:nvSpPr>
        <p:spPr>
          <a:xfrm>
            <a:off x="4389120" y="1435608"/>
            <a:ext cx="1600200" cy="420624"/>
          </a:xfrm>
          <a:prstGeom prst="roundRect">
            <a:avLst>
              <a:gd name="adj" fmla="val 17391"/>
            </a:avLst>
          </a:prstGeom>
          <a:solidFill>
            <a:srgbClr val="FFFFFF"/>
          </a:solidFill>
          <a:ln w="15875">
            <a:solidFill>
              <a:srgbClr val="14275E"/>
            </a:solidFill>
            <a:prstDash val="solid"/>
          </a:ln>
        </p:spPr>
      </p:sp>
      <p:sp>
        <p:nvSpPr>
          <p:cNvPr id="12" name="Texto GitHub"/>
          <p:cNvSpPr txBox="1"/>
          <p:nvPr/>
        </p:nvSpPr>
        <p:spPr>
          <a:xfrm>
            <a:off x="4389120" y="1435608"/>
            <a:ext cx="1600200" cy="420624"/>
          </a:xfrm>
          <a:prstGeom prst="rect">
            <a:avLst/>
          </a:prstGeom>
          <a:noFill/>
          <a:ln/>
        </p:spPr>
        <p:txBody>
          <a:bodyPr wrap="square" lIns="0" tIns="0" rIns="0" bIns="0" rtlCol="0" anchor="ctr"/>
          <a:lstStyle/>
          <a:p>
            <a:pPr algn="ctr" indent="0" marL="0">
              <a:buNone/>
            </a:pPr>
            <a:r>
              <a:rPr lang="en-US" sz="1300" b="1" dirty="0">
                <a:solidFill>
                  <a:srgbClr val="14275E"/>
                </a:solidFill>
                <a:latin typeface="Calibri" pitchFamily="34" charset="0"/>
                <a:ea typeface="Calibri" pitchFamily="34" charset="-122"/>
                <a:cs typeface="Calibri" pitchFamily="34" charset="-120"/>
              </a:rPr>
              <a:t>GitHub</a:t>
            </a:r>
            <a:endParaRPr lang="en-US" sz="1300" dirty="0"/>
          </a:p>
        </p:txBody>
      </p:sp>
      <p:sp>
        <p:nvSpPr>
          <p:cNvPr id="13" name="Nota publicación"/>
          <p:cNvSpPr txBox="1"/>
          <p:nvPr/>
        </p:nvSpPr>
        <p:spPr>
          <a:xfrm>
            <a:off x="6400800" y="1435608"/>
            <a:ext cx="2194560" cy="420624"/>
          </a:xfrm>
          <a:prstGeom prst="rect">
            <a:avLst/>
          </a:prstGeom>
          <a:noFill/>
          <a:ln/>
        </p:spPr>
        <p:txBody>
          <a:bodyPr wrap="square" lIns="0" tIns="0" rIns="0" bIns="0" rtlCol="0" anchor="ctr"/>
          <a:lstStyle/>
          <a:p>
            <a:pPr indent="0" marL="0">
              <a:buNone/>
            </a:pPr>
            <a:r>
              <a:rPr lang="en-US" sz="1200" i="1" dirty="0">
                <a:solidFill>
                  <a:srgbClr val="4B5563"/>
                </a:solidFill>
                <a:latin typeface="Calibri" pitchFamily="34" charset="0"/>
                <a:ea typeface="Calibri" pitchFamily="34" charset="-122"/>
                <a:cs typeface="Calibri" pitchFamily="34" charset="-120"/>
              </a:rPr>
              <a:t>Vercel publica la interfaz a partir de GitHub</a:t>
            </a:r>
            <a:endParaRPr lang="en-US" sz="1200" dirty="0"/>
          </a:p>
        </p:txBody>
      </p:sp>
      <p:sp>
        <p:nvSpPr>
          <p:cNvPr id="14" name="Flecha a Vercel"/>
          <p:cNvSpPr/>
          <p:nvPr/>
        </p:nvSpPr>
        <p:spPr>
          <a:xfrm>
            <a:off x="6053328" y="1645920"/>
            <a:ext cx="274320" cy="0"/>
          </a:xfrm>
          <a:prstGeom prst="line">
            <a:avLst/>
          </a:prstGeom>
          <a:noFill/>
          <a:ln w="25400">
            <a:solidFill>
              <a:srgbClr val="0F766E"/>
            </a:solidFill>
            <a:prstDash val="dash"/>
            <a:tailEnd type="triangle"/>
          </a:ln>
        </p:spPr>
      </p:sp>
      <p:sp>
        <p:nvSpPr>
          <p:cNvPr id="15" name="Banda aplicación"/>
          <p:cNvSpPr/>
          <p:nvPr/>
        </p:nvSpPr>
        <p:spPr>
          <a:xfrm>
            <a:off x="457200" y="2103120"/>
            <a:ext cx="8229600" cy="2514600"/>
          </a:xfrm>
          <a:prstGeom prst="roundRect">
            <a:avLst>
              <a:gd name="adj" fmla="val 3636"/>
            </a:avLst>
          </a:prstGeom>
          <a:solidFill>
            <a:srgbClr val="FFFFFF"/>
          </a:solidFill>
          <a:ln w="15875">
            <a:solidFill>
              <a:srgbClr val="1D4ED8"/>
            </a:solidFill>
            <a:prstDash val="solid"/>
          </a:ln>
        </p:spPr>
      </p:sp>
      <p:sp>
        <p:nvSpPr>
          <p:cNvPr id="16" name="Etiqueta banda aplicación"/>
          <p:cNvSpPr txBox="1"/>
          <p:nvPr/>
        </p:nvSpPr>
        <p:spPr>
          <a:xfrm>
            <a:off x="640080" y="2167128"/>
            <a:ext cx="4572000" cy="228600"/>
          </a:xfrm>
          <a:prstGeom prst="rect">
            <a:avLst/>
          </a:prstGeom>
          <a:noFill/>
          <a:ln/>
        </p:spPr>
        <p:txBody>
          <a:bodyPr wrap="square" lIns="0" tIns="0" rIns="0" bIns="0" rtlCol="0" anchor="ctr"/>
          <a:lstStyle/>
          <a:p>
            <a:pPr indent="0" marL="0">
              <a:buNone/>
            </a:pPr>
            <a:r>
              <a:rPr lang="en-US" sz="1100" b="1" spc="200" kern="0" dirty="0">
                <a:solidFill>
                  <a:srgbClr val="1D4ED8"/>
                </a:solidFill>
                <a:latin typeface="Calibri" pitchFamily="34" charset="0"/>
                <a:ea typeface="Calibri" pitchFamily="34" charset="-122"/>
                <a:cs typeface="Calibri" pitchFamily="34" charset="-120"/>
              </a:rPr>
              <a:t>FUNCIONAMIENTO DE LA APLICACIÓN</a:t>
            </a:r>
            <a:endParaRPr lang="en-US" sz="1100" dirty="0"/>
          </a:p>
        </p:txBody>
      </p:sp>
      <p:sp>
        <p:nvSpPr>
          <p:cNvPr id="17" name="Caja Navegador"/>
          <p:cNvSpPr/>
          <p:nvPr/>
        </p:nvSpPr>
        <p:spPr>
          <a:xfrm>
            <a:off x="594360" y="2514600"/>
            <a:ext cx="1371600" cy="1280160"/>
          </a:xfrm>
          <a:prstGeom prst="roundRect">
            <a:avLst>
              <a:gd name="adj" fmla="val 7143"/>
            </a:avLst>
          </a:prstGeom>
          <a:solidFill>
            <a:srgbClr val="FFFFFF"/>
          </a:solidFill>
          <a:ln w="19050">
            <a:solidFill>
              <a:srgbClr val="1D4ED8"/>
            </a:solidFill>
            <a:prstDash val="solid"/>
          </a:ln>
        </p:spPr>
      </p:sp>
      <p:pic>
        <p:nvPicPr>
          <p:cNvPr id="18" name="Icono Navegador" descr="Icono Navegador">    </p:cNvPr>
          <p:cNvPicPr>
            <a:picLocks noChangeAspect="1"/>
          </p:cNvPicPr>
          <p:nvPr/>
        </p:nvPicPr>
        <p:blipFill>
          <a:blip r:embed="rId1"/>
          <a:stretch>
            <a:fillRect/>
          </a:stretch>
        </p:blipFill>
        <p:spPr>
          <a:xfrm>
            <a:off x="1097280" y="2606040"/>
            <a:ext cx="365760" cy="365760"/>
          </a:xfrm>
          <a:prstGeom prst="rect">
            <a:avLst/>
          </a:prstGeom>
        </p:spPr>
      </p:pic>
      <p:sp>
        <p:nvSpPr>
          <p:cNvPr id="19" name="Título Navegador"/>
          <p:cNvSpPr txBox="1"/>
          <p:nvPr/>
        </p:nvSpPr>
        <p:spPr>
          <a:xfrm>
            <a:off x="630936" y="3017520"/>
            <a:ext cx="1298448" cy="32004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Navegador</a:t>
            </a:r>
            <a:endParaRPr lang="en-US" sz="1600" dirty="0"/>
          </a:p>
        </p:txBody>
      </p:sp>
      <p:sp>
        <p:nvSpPr>
          <p:cNvPr id="20" name="Detalle Navegador"/>
          <p:cNvSpPr txBox="1"/>
          <p:nvPr/>
        </p:nvSpPr>
        <p:spPr>
          <a:xfrm>
            <a:off x="630936" y="3337560"/>
            <a:ext cx="1298448" cy="384048"/>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La persona abre la web</a:t>
            </a:r>
            <a:endParaRPr lang="en-US" sz="1200" dirty="0"/>
          </a:p>
        </p:txBody>
      </p:sp>
      <p:sp>
        <p:nvSpPr>
          <p:cNvPr id="21" name="Número 1 fondo"/>
          <p:cNvSpPr/>
          <p:nvPr/>
        </p:nvSpPr>
        <p:spPr>
          <a:xfrm>
            <a:off x="521208" y="2441448"/>
            <a:ext cx="274320" cy="274320"/>
          </a:xfrm>
          <a:prstGeom prst="ellipse">
            <a:avLst/>
          </a:prstGeom>
          <a:solidFill>
            <a:srgbClr val="BE185D"/>
          </a:solidFill>
          <a:ln w="15875">
            <a:solidFill>
              <a:srgbClr val="FFFFFF"/>
            </a:solidFill>
            <a:prstDash val="solid"/>
          </a:ln>
        </p:spPr>
      </p:sp>
      <p:sp>
        <p:nvSpPr>
          <p:cNvPr id="22" name="Número 1"/>
          <p:cNvSpPr txBox="1"/>
          <p:nvPr/>
        </p:nvSpPr>
        <p:spPr>
          <a:xfrm>
            <a:off x="521208" y="2441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Flecha 1"/>
          <p:cNvSpPr/>
          <p:nvPr/>
        </p:nvSpPr>
        <p:spPr>
          <a:xfrm>
            <a:off x="1993392" y="3154680"/>
            <a:ext cx="219456" cy="0"/>
          </a:xfrm>
          <a:prstGeom prst="line">
            <a:avLst/>
          </a:prstGeom>
          <a:noFill/>
          <a:ln w="31750">
            <a:solidFill>
              <a:srgbClr val="14275E"/>
            </a:solidFill>
            <a:prstDash val="solid"/>
            <a:headEnd type="triangle"/>
            <a:tailEnd type="triangle"/>
          </a:ln>
        </p:spPr>
      </p:sp>
      <p:sp>
        <p:nvSpPr>
          <p:cNvPr id="24" name="Caja Frontend"/>
          <p:cNvSpPr/>
          <p:nvPr/>
        </p:nvSpPr>
        <p:spPr>
          <a:xfrm>
            <a:off x="2240280" y="2514600"/>
            <a:ext cx="1645920" cy="1280160"/>
          </a:xfrm>
          <a:prstGeom prst="roundRect">
            <a:avLst>
              <a:gd name="adj" fmla="val 7143"/>
            </a:avLst>
          </a:prstGeom>
          <a:solidFill>
            <a:srgbClr val="1D4ED8"/>
          </a:solidFill>
          <a:ln w="19050">
            <a:solidFill>
              <a:srgbClr val="1D4ED8"/>
            </a:solidFill>
            <a:prstDash val="solid"/>
          </a:ln>
        </p:spPr>
      </p:sp>
      <p:pic>
        <p:nvPicPr>
          <p:cNvPr id="25" name="Icono Frontend" descr="Icono Frontend">    </p:cNvPr>
          <p:cNvPicPr>
            <a:picLocks noChangeAspect="1"/>
          </p:cNvPicPr>
          <p:nvPr/>
        </p:nvPicPr>
        <p:blipFill>
          <a:blip r:embed="rId2"/>
          <a:stretch>
            <a:fillRect/>
          </a:stretch>
        </p:blipFill>
        <p:spPr>
          <a:xfrm>
            <a:off x="2880360" y="2606040"/>
            <a:ext cx="365760" cy="365760"/>
          </a:xfrm>
          <a:prstGeom prst="rect">
            <a:avLst/>
          </a:prstGeom>
        </p:spPr>
      </p:pic>
      <p:sp>
        <p:nvSpPr>
          <p:cNvPr id="26" name="Título Frontend"/>
          <p:cNvSpPr txBox="1"/>
          <p:nvPr/>
        </p:nvSpPr>
        <p:spPr>
          <a:xfrm>
            <a:off x="2276856" y="3017520"/>
            <a:ext cx="15727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Frontend</a:t>
            </a:r>
            <a:endParaRPr lang="en-US" sz="1600" dirty="0"/>
          </a:p>
        </p:txBody>
      </p:sp>
      <p:sp>
        <p:nvSpPr>
          <p:cNvPr id="27" name="Detalle Frontend"/>
          <p:cNvSpPr txBox="1"/>
          <p:nvPr/>
        </p:nvSpPr>
        <p:spPr>
          <a:xfrm>
            <a:off x="2276856" y="3337560"/>
            <a:ext cx="1572768" cy="384048"/>
          </a:xfrm>
          <a:prstGeom prst="rect">
            <a:avLst/>
          </a:prstGeom>
          <a:noFill/>
          <a:ln/>
        </p:spPr>
        <p:txBody>
          <a:bodyPr wrap="square" lIns="0" tIns="0" rIns="0" bIns="0" rtlCol="0" anchor="t"/>
          <a:lstStyle/>
          <a:p>
            <a:pPr algn="ctr" indent="0" marL="0">
              <a:buNone/>
            </a:pPr>
            <a:r>
              <a:rPr lang="en-US" sz="1200" dirty="0">
                <a:solidFill>
                  <a:srgbClr val="DBEAFE"/>
                </a:solidFill>
                <a:latin typeface="Calibri" pitchFamily="34" charset="0"/>
                <a:ea typeface="Calibri" pitchFamily="34" charset="-122"/>
                <a:cs typeface="Calibri" pitchFamily="34" charset="-120"/>
              </a:rPr>
              <a:t>React + Vite, en Vercel</a:t>
            </a:r>
            <a:endParaRPr lang="en-US" sz="1200" dirty="0"/>
          </a:p>
        </p:txBody>
      </p:sp>
      <p:sp>
        <p:nvSpPr>
          <p:cNvPr id="28" name="Número 2 fondo"/>
          <p:cNvSpPr/>
          <p:nvPr/>
        </p:nvSpPr>
        <p:spPr>
          <a:xfrm>
            <a:off x="2167128" y="2441448"/>
            <a:ext cx="274320" cy="274320"/>
          </a:xfrm>
          <a:prstGeom prst="ellipse">
            <a:avLst/>
          </a:prstGeom>
          <a:solidFill>
            <a:srgbClr val="BE185D"/>
          </a:solidFill>
          <a:ln w="15875">
            <a:solidFill>
              <a:srgbClr val="FFFFFF"/>
            </a:solidFill>
            <a:prstDash val="solid"/>
          </a:ln>
        </p:spPr>
      </p:sp>
      <p:sp>
        <p:nvSpPr>
          <p:cNvPr id="29" name="Número 2"/>
          <p:cNvSpPr txBox="1"/>
          <p:nvPr/>
        </p:nvSpPr>
        <p:spPr>
          <a:xfrm>
            <a:off x="2167128" y="2441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Flecha 2"/>
          <p:cNvSpPr/>
          <p:nvPr/>
        </p:nvSpPr>
        <p:spPr>
          <a:xfrm>
            <a:off x="3913632" y="3154680"/>
            <a:ext cx="219456" cy="0"/>
          </a:xfrm>
          <a:prstGeom prst="line">
            <a:avLst/>
          </a:prstGeom>
          <a:noFill/>
          <a:ln w="31750">
            <a:solidFill>
              <a:srgbClr val="14275E"/>
            </a:solidFill>
            <a:prstDash val="solid"/>
            <a:headEnd type="triangle"/>
            <a:tailEnd type="triangle"/>
          </a:ln>
        </p:spPr>
      </p:sp>
      <p:sp>
        <p:nvSpPr>
          <p:cNvPr id="31" name="Caja ngrok"/>
          <p:cNvSpPr/>
          <p:nvPr/>
        </p:nvSpPr>
        <p:spPr>
          <a:xfrm>
            <a:off x="4160520" y="2514600"/>
            <a:ext cx="1188720" cy="1280160"/>
          </a:xfrm>
          <a:prstGeom prst="roundRect">
            <a:avLst>
              <a:gd name="adj" fmla="val 7692"/>
            </a:avLst>
          </a:prstGeom>
          <a:solidFill>
            <a:srgbClr val="BE185D"/>
          </a:solidFill>
          <a:ln w="19050">
            <a:solidFill>
              <a:srgbClr val="BE185D"/>
            </a:solidFill>
            <a:prstDash val="solid"/>
          </a:ln>
        </p:spPr>
      </p:sp>
      <p:pic>
        <p:nvPicPr>
          <p:cNvPr id="32" name="Icono ngrok" descr="Icono ngrok">    </p:cNvPr>
          <p:cNvPicPr>
            <a:picLocks noChangeAspect="1"/>
          </p:cNvPicPr>
          <p:nvPr/>
        </p:nvPicPr>
        <p:blipFill>
          <a:blip r:embed="rId3"/>
          <a:stretch>
            <a:fillRect/>
          </a:stretch>
        </p:blipFill>
        <p:spPr>
          <a:xfrm>
            <a:off x="4572000" y="2606040"/>
            <a:ext cx="365760" cy="365760"/>
          </a:xfrm>
          <a:prstGeom prst="rect">
            <a:avLst/>
          </a:prstGeom>
        </p:spPr>
      </p:pic>
      <p:sp>
        <p:nvSpPr>
          <p:cNvPr id="33" name="Título ngrok"/>
          <p:cNvSpPr txBox="1"/>
          <p:nvPr/>
        </p:nvSpPr>
        <p:spPr>
          <a:xfrm>
            <a:off x="4197096" y="3017520"/>
            <a:ext cx="11155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ngrok</a:t>
            </a:r>
            <a:endParaRPr lang="en-US" sz="1600" dirty="0"/>
          </a:p>
        </p:txBody>
      </p:sp>
      <p:sp>
        <p:nvSpPr>
          <p:cNvPr id="34" name="Detalle ngrok"/>
          <p:cNvSpPr txBox="1"/>
          <p:nvPr/>
        </p:nvSpPr>
        <p:spPr>
          <a:xfrm>
            <a:off x="4197096" y="3337560"/>
            <a:ext cx="1115568" cy="384048"/>
          </a:xfrm>
          <a:prstGeom prst="rect">
            <a:avLst/>
          </a:prstGeom>
          <a:noFill/>
          <a:ln/>
        </p:spPr>
        <p:txBody>
          <a:bodyPr wrap="square" lIns="0" tIns="0" rIns="0" bIns="0" rtlCol="0" anchor="t"/>
          <a:lstStyle/>
          <a:p>
            <a:pPr algn="ctr" indent="0" marL="0">
              <a:buNone/>
            </a:pPr>
            <a:r>
              <a:rPr lang="en-US" sz="1200" dirty="0">
                <a:solidFill>
                  <a:srgbClr val="DBEAFE"/>
                </a:solidFill>
                <a:latin typeface="Calibri" pitchFamily="34" charset="0"/>
                <a:ea typeface="Calibri" pitchFamily="34" charset="-122"/>
                <a:cs typeface="Calibri" pitchFamily="34" charset="-120"/>
              </a:rPr>
              <a:t>Túnel HTTPS</a:t>
            </a:r>
            <a:endParaRPr lang="en-US" sz="1200" dirty="0"/>
          </a:p>
        </p:txBody>
      </p:sp>
      <p:sp>
        <p:nvSpPr>
          <p:cNvPr id="35" name="Número 3 fondo"/>
          <p:cNvSpPr/>
          <p:nvPr/>
        </p:nvSpPr>
        <p:spPr>
          <a:xfrm>
            <a:off x="4087368" y="2441448"/>
            <a:ext cx="274320" cy="274320"/>
          </a:xfrm>
          <a:prstGeom prst="ellipse">
            <a:avLst/>
          </a:prstGeom>
          <a:solidFill>
            <a:srgbClr val="BE185D"/>
          </a:solidFill>
          <a:ln w="15875">
            <a:solidFill>
              <a:srgbClr val="FFFFFF"/>
            </a:solidFill>
            <a:prstDash val="solid"/>
          </a:ln>
        </p:spPr>
      </p:sp>
      <p:sp>
        <p:nvSpPr>
          <p:cNvPr id="36" name="Número 3"/>
          <p:cNvSpPr txBox="1"/>
          <p:nvPr/>
        </p:nvSpPr>
        <p:spPr>
          <a:xfrm>
            <a:off x="4087368" y="2441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Flecha 3"/>
          <p:cNvSpPr/>
          <p:nvPr/>
        </p:nvSpPr>
        <p:spPr>
          <a:xfrm>
            <a:off x="5376672" y="3154680"/>
            <a:ext cx="219456" cy="0"/>
          </a:xfrm>
          <a:prstGeom prst="line">
            <a:avLst/>
          </a:prstGeom>
          <a:noFill/>
          <a:ln w="31750">
            <a:solidFill>
              <a:srgbClr val="14275E"/>
            </a:solidFill>
            <a:prstDash val="solid"/>
            <a:headEnd type="triangle"/>
            <a:tailEnd type="triangle"/>
          </a:ln>
        </p:spPr>
      </p:sp>
      <p:sp>
        <p:nvSpPr>
          <p:cNvPr id="38" name="Caja Backend"/>
          <p:cNvSpPr/>
          <p:nvPr/>
        </p:nvSpPr>
        <p:spPr>
          <a:xfrm>
            <a:off x="5623560" y="2514600"/>
            <a:ext cx="1463040" cy="1280160"/>
          </a:xfrm>
          <a:prstGeom prst="roundRect">
            <a:avLst>
              <a:gd name="adj" fmla="val 7143"/>
            </a:avLst>
          </a:prstGeom>
          <a:solidFill>
            <a:srgbClr val="14275E"/>
          </a:solidFill>
          <a:ln w="19050">
            <a:solidFill>
              <a:srgbClr val="14275E"/>
            </a:solidFill>
            <a:prstDash val="solid"/>
          </a:ln>
        </p:spPr>
      </p:sp>
      <p:pic>
        <p:nvPicPr>
          <p:cNvPr id="39" name="Icono Backend" descr="Icono Backend">    </p:cNvPr>
          <p:cNvPicPr>
            <a:picLocks noChangeAspect="1"/>
          </p:cNvPicPr>
          <p:nvPr/>
        </p:nvPicPr>
        <p:blipFill>
          <a:blip r:embed="rId4"/>
          <a:stretch>
            <a:fillRect/>
          </a:stretch>
        </p:blipFill>
        <p:spPr>
          <a:xfrm>
            <a:off x="6172200" y="2606040"/>
            <a:ext cx="365760" cy="365760"/>
          </a:xfrm>
          <a:prstGeom prst="rect">
            <a:avLst/>
          </a:prstGeom>
        </p:spPr>
      </p:pic>
      <p:sp>
        <p:nvSpPr>
          <p:cNvPr id="40" name="Título Backend"/>
          <p:cNvSpPr txBox="1"/>
          <p:nvPr/>
        </p:nvSpPr>
        <p:spPr>
          <a:xfrm>
            <a:off x="5660136" y="3017520"/>
            <a:ext cx="138988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Backend</a:t>
            </a:r>
            <a:endParaRPr lang="en-US" sz="1600" dirty="0"/>
          </a:p>
        </p:txBody>
      </p:sp>
      <p:sp>
        <p:nvSpPr>
          <p:cNvPr id="41" name="Detalle Backend"/>
          <p:cNvSpPr txBox="1"/>
          <p:nvPr/>
        </p:nvSpPr>
        <p:spPr>
          <a:xfrm>
            <a:off x="5660136" y="3337560"/>
            <a:ext cx="1389888" cy="384048"/>
          </a:xfrm>
          <a:prstGeom prst="rect">
            <a:avLst/>
          </a:prstGeom>
          <a:noFill/>
          <a:ln/>
        </p:spPr>
        <p:txBody>
          <a:bodyPr wrap="square" lIns="0" tIns="0" rIns="0" bIns="0" rtlCol="0" anchor="t"/>
          <a:lstStyle/>
          <a:p>
            <a:pPr algn="ctr" indent="0" marL="0">
              <a:buNone/>
            </a:pPr>
            <a:r>
              <a:rPr lang="en-US" sz="1200" dirty="0">
                <a:solidFill>
                  <a:srgbClr val="DBEAFE"/>
                </a:solidFill>
                <a:latin typeface="Calibri" pitchFamily="34" charset="0"/>
                <a:ea typeface="Calibri" pitchFamily="34" charset="-122"/>
                <a:cs typeface="Calibri" pitchFamily="34" charset="-120"/>
              </a:rPr>
              <a:t>Laravel (PHP)</a:t>
            </a:r>
            <a:endParaRPr lang="en-US" sz="1200" dirty="0"/>
          </a:p>
        </p:txBody>
      </p:sp>
      <p:sp>
        <p:nvSpPr>
          <p:cNvPr id="42" name="Número 4 fondo"/>
          <p:cNvSpPr/>
          <p:nvPr/>
        </p:nvSpPr>
        <p:spPr>
          <a:xfrm>
            <a:off x="5550408" y="2441448"/>
            <a:ext cx="274320" cy="274320"/>
          </a:xfrm>
          <a:prstGeom prst="ellipse">
            <a:avLst/>
          </a:prstGeom>
          <a:solidFill>
            <a:srgbClr val="BE185D"/>
          </a:solidFill>
          <a:ln w="15875">
            <a:solidFill>
              <a:srgbClr val="FFFFFF"/>
            </a:solidFill>
            <a:prstDash val="solid"/>
          </a:ln>
        </p:spPr>
      </p:sp>
      <p:sp>
        <p:nvSpPr>
          <p:cNvPr id="43" name="Número 4"/>
          <p:cNvSpPr txBox="1"/>
          <p:nvPr/>
        </p:nvSpPr>
        <p:spPr>
          <a:xfrm>
            <a:off x="5550408" y="2441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Flecha 4"/>
          <p:cNvSpPr/>
          <p:nvPr/>
        </p:nvSpPr>
        <p:spPr>
          <a:xfrm>
            <a:off x="7114032" y="3154680"/>
            <a:ext cx="219456" cy="0"/>
          </a:xfrm>
          <a:prstGeom prst="line">
            <a:avLst/>
          </a:prstGeom>
          <a:noFill/>
          <a:ln w="31750">
            <a:solidFill>
              <a:srgbClr val="14275E"/>
            </a:solidFill>
            <a:prstDash val="solid"/>
            <a:headEnd type="triangle"/>
            <a:tailEnd type="triangle"/>
          </a:ln>
        </p:spPr>
      </p:sp>
      <p:sp>
        <p:nvSpPr>
          <p:cNvPr id="45" name="Caja MySQL"/>
          <p:cNvSpPr/>
          <p:nvPr/>
        </p:nvSpPr>
        <p:spPr>
          <a:xfrm>
            <a:off x="7360920" y="2514600"/>
            <a:ext cx="1234440" cy="1280160"/>
          </a:xfrm>
          <a:prstGeom prst="roundRect">
            <a:avLst>
              <a:gd name="adj" fmla="val 7407"/>
            </a:avLst>
          </a:prstGeom>
          <a:solidFill>
            <a:srgbClr val="0F766E"/>
          </a:solidFill>
          <a:ln w="19050">
            <a:solidFill>
              <a:srgbClr val="0F766E"/>
            </a:solidFill>
            <a:prstDash val="solid"/>
          </a:ln>
        </p:spPr>
      </p:sp>
      <p:pic>
        <p:nvPicPr>
          <p:cNvPr id="46" name="Icono MySQL" descr="Icono MySQL">    </p:cNvPr>
          <p:cNvPicPr>
            <a:picLocks noChangeAspect="1"/>
          </p:cNvPicPr>
          <p:nvPr/>
        </p:nvPicPr>
        <p:blipFill>
          <a:blip r:embed="rId5"/>
          <a:stretch>
            <a:fillRect/>
          </a:stretch>
        </p:blipFill>
        <p:spPr>
          <a:xfrm>
            <a:off x="7795260" y="2606040"/>
            <a:ext cx="365760" cy="365760"/>
          </a:xfrm>
          <a:prstGeom prst="rect">
            <a:avLst/>
          </a:prstGeom>
        </p:spPr>
      </p:pic>
      <p:sp>
        <p:nvSpPr>
          <p:cNvPr id="47" name="Título MySQL"/>
          <p:cNvSpPr txBox="1"/>
          <p:nvPr/>
        </p:nvSpPr>
        <p:spPr>
          <a:xfrm>
            <a:off x="7397496" y="3017520"/>
            <a:ext cx="116128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MySQL</a:t>
            </a:r>
            <a:endParaRPr lang="en-US" sz="1600" dirty="0"/>
          </a:p>
        </p:txBody>
      </p:sp>
      <p:sp>
        <p:nvSpPr>
          <p:cNvPr id="48" name="Detalle MySQL"/>
          <p:cNvSpPr txBox="1"/>
          <p:nvPr/>
        </p:nvSpPr>
        <p:spPr>
          <a:xfrm>
            <a:off x="7397496" y="3337560"/>
            <a:ext cx="1161288" cy="384048"/>
          </a:xfrm>
          <a:prstGeom prst="rect">
            <a:avLst/>
          </a:prstGeom>
          <a:noFill/>
          <a:ln/>
        </p:spPr>
        <p:txBody>
          <a:bodyPr wrap="square" lIns="0" tIns="0" rIns="0" bIns="0" rtlCol="0" anchor="t"/>
          <a:lstStyle/>
          <a:p>
            <a:pPr algn="ctr" indent="0" marL="0">
              <a:buNone/>
            </a:pPr>
            <a:r>
              <a:rPr lang="en-US" sz="1200" dirty="0">
                <a:solidFill>
                  <a:srgbClr val="DBEAFE"/>
                </a:solidFill>
                <a:latin typeface="Calibri" pitchFamily="34" charset="0"/>
                <a:ea typeface="Calibri" pitchFamily="34" charset="-122"/>
                <a:cs typeface="Calibri" pitchFamily="34" charset="-120"/>
              </a:rPr>
              <a:t>Base de datos</a:t>
            </a:r>
            <a:endParaRPr lang="en-US" sz="1200" dirty="0"/>
          </a:p>
        </p:txBody>
      </p:sp>
      <p:sp>
        <p:nvSpPr>
          <p:cNvPr id="49" name="Número 5 fondo"/>
          <p:cNvSpPr/>
          <p:nvPr/>
        </p:nvSpPr>
        <p:spPr>
          <a:xfrm>
            <a:off x="7287768" y="2441448"/>
            <a:ext cx="274320" cy="274320"/>
          </a:xfrm>
          <a:prstGeom prst="ellipse">
            <a:avLst/>
          </a:prstGeom>
          <a:solidFill>
            <a:srgbClr val="BE185D"/>
          </a:solidFill>
          <a:ln w="15875">
            <a:solidFill>
              <a:srgbClr val="FFFFFF"/>
            </a:solidFill>
            <a:prstDash val="solid"/>
          </a:ln>
        </p:spPr>
      </p:sp>
      <p:sp>
        <p:nvSpPr>
          <p:cNvPr id="50" name="Número 5"/>
          <p:cNvSpPr txBox="1"/>
          <p:nvPr/>
        </p:nvSpPr>
        <p:spPr>
          <a:xfrm>
            <a:off x="7287768" y="2441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1" name="Etiqueta API fondo"/>
          <p:cNvSpPr/>
          <p:nvPr/>
        </p:nvSpPr>
        <p:spPr>
          <a:xfrm>
            <a:off x="2240280" y="3950208"/>
            <a:ext cx="4846320" cy="457200"/>
          </a:xfrm>
          <a:prstGeom prst="roundRect">
            <a:avLst>
              <a:gd name="adj" fmla="val 50000"/>
            </a:avLst>
          </a:prstGeom>
          <a:solidFill>
            <a:srgbClr val="DBEAFE"/>
          </a:solidFill>
          <a:ln w="12700">
            <a:solidFill>
              <a:srgbClr val="DBEAFE"/>
            </a:solidFill>
            <a:prstDash val="solid"/>
          </a:ln>
        </p:spPr>
      </p:sp>
      <p:sp>
        <p:nvSpPr>
          <p:cNvPr id="52" name="Etiqueta API"/>
          <p:cNvSpPr txBox="1"/>
          <p:nvPr/>
        </p:nvSpPr>
        <p:spPr>
          <a:xfrm>
            <a:off x="2377440" y="3950208"/>
            <a:ext cx="4572000" cy="457200"/>
          </a:xfrm>
          <a:prstGeom prst="rect">
            <a:avLst/>
          </a:prstGeom>
          <a:noFill/>
          <a:ln/>
        </p:spPr>
        <p:txBody>
          <a:bodyPr wrap="square" lIns="0" tIns="0" rIns="0" bIns="0" rtlCol="0" anchor="ctr"/>
          <a:lstStyle/>
          <a:p>
            <a:pPr algn="ctr" indent="0" marL="0">
              <a:buNone/>
            </a:pPr>
            <a:r>
              <a:rPr lang="en-US" sz="1300" b="1" dirty="0">
                <a:solidFill>
                  <a:srgbClr val="14275E"/>
                </a:solidFill>
                <a:latin typeface="Calibri" pitchFamily="34" charset="0"/>
                <a:ea typeface="Calibri" pitchFamily="34" charset="-122"/>
                <a:cs typeface="Calibri" pitchFamily="34" charset="-120"/>
              </a:rPr>
              <a:t>Frontend y backend son partes separadas que se comunican mediante una API</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Qué conseguimos</a:t>
            </a:r>
            <a:endParaRPr lang="en-US" sz="3200" dirty="0"/>
          </a:p>
        </p:txBody>
      </p:sp>
      <p:sp>
        <p:nvSpPr>
          <p:cNvPr id="3" name="Tarjeta El catálogo y sus filtros funcionan"/>
          <p:cNvSpPr/>
          <p:nvPr/>
        </p:nvSpPr>
        <p:spPr>
          <a:xfrm>
            <a:off x="457200" y="1280160"/>
            <a:ext cx="2560320" cy="3108960"/>
          </a:xfrm>
          <a:prstGeom prst="roundRect">
            <a:avLst>
              <a:gd name="adj" fmla="val 4286"/>
            </a:avLst>
          </a:prstGeom>
          <a:solidFill>
            <a:srgbClr val="F4F6FA"/>
          </a:solidFill>
          <a:ln w="9525">
            <a:solidFill>
              <a:srgbClr val="D9DEE8"/>
            </a:solidFill>
            <a:prstDash val="solid"/>
          </a:ln>
        </p:spPr>
      </p:sp>
      <p:sp>
        <p:nvSpPr>
          <p:cNvPr id="4" name="Icono El catálogo y sus filtros funcionan fondo"/>
          <p:cNvSpPr/>
          <p:nvPr/>
        </p:nvSpPr>
        <p:spPr>
          <a:xfrm>
            <a:off x="685800" y="1508760"/>
            <a:ext cx="731520" cy="731520"/>
          </a:xfrm>
          <a:prstGeom prst="ellipse">
            <a:avLst/>
          </a:prstGeom>
          <a:solidFill>
            <a:srgbClr val="1D4ED8"/>
          </a:solidFill>
          <a:ln w="12700">
            <a:solidFill>
              <a:srgbClr val="1D4ED8"/>
            </a:solidFill>
            <a:prstDash val="solid"/>
          </a:ln>
        </p:spPr>
      </p:sp>
      <p:pic>
        <p:nvPicPr>
          <p:cNvPr id="5" name="Icono El catálogo y sus filtros funcionan" descr="Icono El catálogo y sus filtros funcionan">    </p:cNvPr>
          <p:cNvPicPr>
            <a:picLocks noChangeAspect="1"/>
          </p:cNvPicPr>
          <p:nvPr/>
        </p:nvPicPr>
        <p:blipFill>
          <a:blip r:embed="rId1"/>
          <a:stretch>
            <a:fillRect/>
          </a:stretch>
        </p:blipFill>
        <p:spPr>
          <a:xfrm>
            <a:off x="868680" y="1691640"/>
            <a:ext cx="365760" cy="365760"/>
          </a:xfrm>
          <a:prstGeom prst="rect">
            <a:avLst/>
          </a:prstGeom>
        </p:spPr>
      </p:pic>
      <p:sp>
        <p:nvSpPr>
          <p:cNvPr id="6" name="Logro 1"/>
          <p:cNvSpPr txBox="1"/>
          <p:nvPr/>
        </p:nvSpPr>
        <p:spPr>
          <a:xfrm>
            <a:off x="685800" y="2423160"/>
            <a:ext cx="2148840" cy="822960"/>
          </a:xfrm>
          <a:prstGeom prst="rect">
            <a:avLst/>
          </a:prstGeom>
          <a:noFill/>
          <a:ln/>
        </p:spPr>
        <p:txBody>
          <a:bodyPr wrap="square" lIns="0" tIns="0" rIns="0" bIns="0" rtlCol="0" anchor="t"/>
          <a:lstStyle/>
          <a:p>
            <a:pPr indent="0" marL="0">
              <a:buNone/>
            </a:pPr>
            <a:r>
              <a:rPr lang="en-US" sz="1800" b="1" dirty="0">
                <a:solidFill>
                  <a:srgbClr val="14275E"/>
                </a:solidFill>
                <a:latin typeface="Calibri" pitchFamily="34" charset="0"/>
                <a:ea typeface="Calibri" pitchFamily="34" charset="-122"/>
                <a:cs typeface="Calibri" pitchFamily="34" charset="-120"/>
              </a:rPr>
              <a:t>El catálogo y sus filtros funcionan</a:t>
            </a:r>
            <a:endParaRPr lang="en-US" sz="1800" dirty="0"/>
          </a:p>
        </p:txBody>
      </p:sp>
      <p:sp>
        <p:nvSpPr>
          <p:cNvPr id="7" name="Detalle logro 1"/>
          <p:cNvSpPr txBox="1"/>
          <p:nvPr/>
        </p:nvSpPr>
        <p:spPr>
          <a:xfrm>
            <a:off x="685800" y="3291840"/>
            <a:ext cx="2148840" cy="91440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100 perfiles de ejemplo, 7 oficios y 10 barrios</a:t>
            </a:r>
            <a:endParaRPr lang="en-US" sz="1400" dirty="0"/>
          </a:p>
        </p:txBody>
      </p:sp>
      <p:sp>
        <p:nvSpPr>
          <p:cNvPr id="8" name="Tarjeta El formulario valida las solicitudes"/>
          <p:cNvSpPr/>
          <p:nvPr/>
        </p:nvSpPr>
        <p:spPr>
          <a:xfrm>
            <a:off x="3291840" y="1280160"/>
            <a:ext cx="2560320" cy="3108960"/>
          </a:xfrm>
          <a:prstGeom prst="roundRect">
            <a:avLst>
              <a:gd name="adj" fmla="val 4286"/>
            </a:avLst>
          </a:prstGeom>
          <a:solidFill>
            <a:srgbClr val="F4F6FA"/>
          </a:solidFill>
          <a:ln w="9525">
            <a:solidFill>
              <a:srgbClr val="D9DEE8"/>
            </a:solidFill>
            <a:prstDash val="solid"/>
          </a:ln>
        </p:spPr>
      </p:sp>
      <p:sp>
        <p:nvSpPr>
          <p:cNvPr id="9" name="Icono El formulario valida las solicitudes fondo"/>
          <p:cNvSpPr/>
          <p:nvPr/>
        </p:nvSpPr>
        <p:spPr>
          <a:xfrm>
            <a:off x="3520440" y="1508760"/>
            <a:ext cx="731520" cy="731520"/>
          </a:xfrm>
          <a:prstGeom prst="ellipse">
            <a:avLst/>
          </a:prstGeom>
          <a:solidFill>
            <a:srgbClr val="1D4ED8"/>
          </a:solidFill>
          <a:ln w="12700">
            <a:solidFill>
              <a:srgbClr val="1D4ED8"/>
            </a:solidFill>
            <a:prstDash val="solid"/>
          </a:ln>
        </p:spPr>
      </p:sp>
      <p:pic>
        <p:nvPicPr>
          <p:cNvPr id="10" name="Icono El formulario valida las solicitudes" descr="Icono El formulario valida las solicitudes">    </p:cNvPr>
          <p:cNvPicPr>
            <a:picLocks noChangeAspect="1"/>
          </p:cNvPicPr>
          <p:nvPr/>
        </p:nvPicPr>
        <p:blipFill>
          <a:blip r:embed="rId2"/>
          <a:stretch>
            <a:fillRect/>
          </a:stretch>
        </p:blipFill>
        <p:spPr>
          <a:xfrm>
            <a:off x="3703320" y="1691640"/>
            <a:ext cx="365760" cy="365760"/>
          </a:xfrm>
          <a:prstGeom prst="rect">
            <a:avLst/>
          </a:prstGeom>
        </p:spPr>
      </p:pic>
      <p:sp>
        <p:nvSpPr>
          <p:cNvPr id="11" name="Logro 2"/>
          <p:cNvSpPr txBox="1"/>
          <p:nvPr/>
        </p:nvSpPr>
        <p:spPr>
          <a:xfrm>
            <a:off x="3520440" y="2423160"/>
            <a:ext cx="2148840" cy="822960"/>
          </a:xfrm>
          <a:prstGeom prst="rect">
            <a:avLst/>
          </a:prstGeom>
          <a:noFill/>
          <a:ln/>
        </p:spPr>
        <p:txBody>
          <a:bodyPr wrap="square" lIns="0" tIns="0" rIns="0" bIns="0" rtlCol="0" anchor="t"/>
          <a:lstStyle/>
          <a:p>
            <a:pPr indent="0" marL="0">
              <a:buNone/>
            </a:pPr>
            <a:r>
              <a:rPr lang="en-US" sz="1800" b="1" dirty="0">
                <a:solidFill>
                  <a:srgbClr val="14275E"/>
                </a:solidFill>
                <a:latin typeface="Calibri" pitchFamily="34" charset="0"/>
                <a:ea typeface="Calibri" pitchFamily="34" charset="-122"/>
                <a:cs typeface="Calibri" pitchFamily="34" charset="-120"/>
              </a:rPr>
              <a:t>El formulario valida las solicitudes</a:t>
            </a:r>
            <a:endParaRPr lang="en-US" sz="1800" dirty="0"/>
          </a:p>
        </p:txBody>
      </p:sp>
      <p:sp>
        <p:nvSpPr>
          <p:cNvPr id="12" name="Detalle logro 2"/>
          <p:cNvSpPr txBox="1"/>
          <p:nvPr/>
        </p:nvSpPr>
        <p:spPr>
          <a:xfrm>
            <a:off x="3520440" y="3291840"/>
            <a:ext cx="2148840" cy="91440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Avisa qué corregir antes de guardar</a:t>
            </a:r>
            <a:endParaRPr lang="en-US" sz="1400" dirty="0"/>
          </a:p>
        </p:txBody>
      </p:sp>
      <p:sp>
        <p:nvSpPr>
          <p:cNvPr id="13" name="Tarjeta Las solicitudes quedan guardadas"/>
          <p:cNvSpPr/>
          <p:nvPr/>
        </p:nvSpPr>
        <p:spPr>
          <a:xfrm>
            <a:off x="6126480" y="1280160"/>
            <a:ext cx="2560320" cy="3108960"/>
          </a:xfrm>
          <a:prstGeom prst="roundRect">
            <a:avLst>
              <a:gd name="adj" fmla="val 4286"/>
            </a:avLst>
          </a:prstGeom>
          <a:solidFill>
            <a:srgbClr val="F4F6FA"/>
          </a:solidFill>
          <a:ln w="9525">
            <a:solidFill>
              <a:srgbClr val="D9DEE8"/>
            </a:solidFill>
            <a:prstDash val="solid"/>
          </a:ln>
        </p:spPr>
      </p:sp>
      <p:sp>
        <p:nvSpPr>
          <p:cNvPr id="14" name="Icono Las solicitudes quedan guardadas fondo"/>
          <p:cNvSpPr/>
          <p:nvPr/>
        </p:nvSpPr>
        <p:spPr>
          <a:xfrm>
            <a:off x="6355080" y="1508760"/>
            <a:ext cx="731520" cy="731520"/>
          </a:xfrm>
          <a:prstGeom prst="ellipse">
            <a:avLst/>
          </a:prstGeom>
          <a:solidFill>
            <a:srgbClr val="0F766E"/>
          </a:solidFill>
          <a:ln w="12700">
            <a:solidFill>
              <a:srgbClr val="0F766E"/>
            </a:solidFill>
            <a:prstDash val="solid"/>
          </a:ln>
        </p:spPr>
      </p:sp>
      <p:pic>
        <p:nvPicPr>
          <p:cNvPr id="15" name="Icono Las solicitudes quedan guardadas" descr="Icono Las solicitudes quedan guardadas">    </p:cNvPr>
          <p:cNvPicPr>
            <a:picLocks noChangeAspect="1"/>
          </p:cNvPicPr>
          <p:nvPr/>
        </p:nvPicPr>
        <p:blipFill>
          <a:blip r:embed="rId3"/>
          <a:stretch>
            <a:fillRect/>
          </a:stretch>
        </p:blipFill>
        <p:spPr>
          <a:xfrm>
            <a:off x="6537960" y="1691640"/>
            <a:ext cx="365760" cy="365760"/>
          </a:xfrm>
          <a:prstGeom prst="rect">
            <a:avLst/>
          </a:prstGeom>
        </p:spPr>
      </p:pic>
      <p:sp>
        <p:nvSpPr>
          <p:cNvPr id="16" name="Logro 3"/>
          <p:cNvSpPr txBox="1"/>
          <p:nvPr/>
        </p:nvSpPr>
        <p:spPr>
          <a:xfrm>
            <a:off x="6355080" y="2423160"/>
            <a:ext cx="2148840" cy="822960"/>
          </a:xfrm>
          <a:prstGeom prst="rect">
            <a:avLst/>
          </a:prstGeom>
          <a:noFill/>
          <a:ln/>
        </p:spPr>
        <p:txBody>
          <a:bodyPr wrap="square" lIns="0" tIns="0" rIns="0" bIns="0" rtlCol="0" anchor="t"/>
          <a:lstStyle/>
          <a:p>
            <a:pPr indent="0" marL="0">
              <a:buNone/>
            </a:pPr>
            <a:r>
              <a:rPr lang="en-US" sz="1800" b="1" dirty="0">
                <a:solidFill>
                  <a:srgbClr val="14275E"/>
                </a:solidFill>
                <a:latin typeface="Calibri" pitchFamily="34" charset="0"/>
                <a:ea typeface="Calibri" pitchFamily="34" charset="-122"/>
                <a:cs typeface="Calibri" pitchFamily="34" charset="-120"/>
              </a:rPr>
              <a:t>Las solicitudes quedan guardadas</a:t>
            </a:r>
            <a:endParaRPr lang="en-US" sz="1800" dirty="0"/>
          </a:p>
        </p:txBody>
      </p:sp>
      <p:sp>
        <p:nvSpPr>
          <p:cNvPr id="17" name="Detalle logro 3"/>
          <p:cNvSpPr txBox="1"/>
          <p:nvPr/>
        </p:nvSpPr>
        <p:spPr>
          <a:xfrm>
            <a:off x="6355080" y="3291840"/>
            <a:ext cx="2148840" cy="91440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El equipo comprobó que las solicitudes válidas se guardan en MySQL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Veamos ConectaPro funcionando</a:t>
            </a:r>
            <a:endParaRPr lang="en-US" sz="3200" dirty="0"/>
          </a:p>
        </p:txBody>
      </p:sp>
      <p:sp>
        <p:nvSpPr>
          <p:cNvPr id="3" name="Invitación"/>
          <p:cNvSpPr txBox="1"/>
          <p:nvPr/>
        </p:nvSpPr>
        <p:spPr>
          <a:xfrm>
            <a:off x="457200" y="1188720"/>
            <a:ext cx="8229600" cy="274320"/>
          </a:xfrm>
          <a:prstGeom prst="rect">
            <a:avLst/>
          </a:prstGeom>
          <a:noFill/>
          <a:ln/>
        </p:spPr>
        <p:txBody>
          <a:bodyPr wrap="square" lIns="0" tIns="0" rIns="0" bIns="0" rtlCol="0" anchor="ctr"/>
          <a:lstStyle/>
          <a:p>
            <a:pPr indent="0" marL="0">
              <a:buNone/>
            </a:pPr>
            <a:r>
              <a:rPr lang="en-US" sz="1400" dirty="0">
                <a:solidFill>
                  <a:srgbClr val="BFDBFE"/>
                </a:solidFill>
                <a:latin typeface="Calibri" pitchFamily="34" charset="0"/>
                <a:ea typeface="Calibri" pitchFamily="34" charset="-122"/>
                <a:cs typeface="Calibri" pitchFamily="34" charset="-120"/>
              </a:rPr>
              <a:t>Probala vos también:</a:t>
            </a:r>
            <a:endParaRPr lang="en-US" sz="1400" dirty="0"/>
          </a:p>
        </p:txBody>
      </p:sp>
      <p:sp>
        <p:nvSpPr>
          <p:cNvPr id="4" name="Enlace fondo"/>
          <p:cNvSpPr/>
          <p:nvPr/>
        </p:nvSpPr>
        <p:spPr>
          <a:xfrm>
            <a:off x="457200" y="1508760"/>
            <a:ext cx="8229600" cy="640080"/>
          </a:xfrm>
          <a:prstGeom prst="roundRect">
            <a:avLst>
              <a:gd name="adj" fmla="val 17143"/>
            </a:avLst>
          </a:prstGeom>
          <a:solidFill>
            <a:srgbClr val="1D4ED8"/>
          </a:solidFill>
          <a:ln w="19050">
            <a:solidFill>
              <a:srgbClr val="93C5FD"/>
            </a:solidFill>
            <a:prstDash val="solid"/>
          </a:ln>
        </p:spPr>
      </p:sp>
      <p:sp>
        <p:nvSpPr>
          <p:cNvPr id="5" name="Enlace demo"/>
          <p:cNvSpPr txBox="1"/>
          <p:nvPr/>
        </p:nvSpPr>
        <p:spPr>
          <a:xfrm>
            <a:off x="640080" y="1508760"/>
            <a:ext cx="7863840" cy="640080"/>
          </a:xfrm>
          <a:prstGeom prst="rect">
            <a:avLst/>
          </a:prstGeom>
          <a:noFill/>
          <a:ln/>
        </p:spPr>
        <p:txBody>
          <a:bodyPr wrap="square" lIns="0" tIns="0" rIns="0" bIns="0" rtlCol="0" anchor="ctr"/>
          <a:lstStyle/>
          <a:p>
            <a:pPr algn="ctr" indent="0" marL="0">
              <a:buNone/>
            </a:pPr>
            <a:r>
              <a:rPr lang="en-US" sz="1500" b="1" u="sng" dirty="0">
                <a:solidFill>
                  <a:srgbClr val="FFFFFF"/>
                </a:solidFill>
                <a:latin typeface="Calibri" pitchFamily="34" charset="0"/>
                <a:ea typeface="Calibri" pitchFamily="34" charset="-122"/>
                <a:cs typeface="Calibri" pitchFamily="34" charset="-120"/>
                <a:hlinkClick r:id="rId1" invalidUrl="" action="" tgtFrame="" tooltip="Abrir ConectaPro" history="1" highlightClick="0" endSnd="0">
                  <a:extLst>
                    <a:ext uri="{A12FA001-AC4F-418D-AE19-62706E023703}">
                      <ahyp:hlinkClr xmlns:ahyp="http://schemas.microsoft.com/office/drawing/2018/hyperlinkcolor" val="tx"/>
                    </a:ext>
                  </a:extLst>
                </a:hlinkClick>
              </a:rPr>
              <a:t>https://conecta-pro-git-feat-frontend-angi-redesign-goldbaeren.vercel.app</a:t>
            </a:r>
            <a:endParaRPr lang="en-US" sz="1500" dirty="0"/>
          </a:p>
        </p:txBody>
      </p:sp>
      <p:sp>
        <p:nvSpPr>
          <p:cNvPr id="6" name="Tarjeta paso 1"/>
          <p:cNvSpPr/>
          <p:nvPr/>
        </p:nvSpPr>
        <p:spPr>
          <a:xfrm>
            <a:off x="457200" y="2560320"/>
            <a:ext cx="2560320" cy="1828800"/>
          </a:xfrm>
          <a:prstGeom prst="roundRect">
            <a:avLst>
              <a:gd name="adj" fmla="val 6000"/>
            </a:avLst>
          </a:prstGeom>
          <a:solidFill>
            <a:srgbClr val="1E3A8A"/>
          </a:solidFill>
          <a:ln w="12700">
            <a:solidFill>
              <a:srgbClr val="3B5BB5"/>
            </a:solidFill>
            <a:prstDash val="solid"/>
          </a:ln>
        </p:spPr>
      </p:sp>
      <p:sp>
        <p:nvSpPr>
          <p:cNvPr id="7" name="Icono Encontrar profesionales fondo"/>
          <p:cNvSpPr/>
          <p:nvPr/>
        </p:nvSpPr>
        <p:spPr>
          <a:xfrm>
            <a:off x="1417320" y="2743200"/>
            <a:ext cx="640080" cy="640080"/>
          </a:xfrm>
          <a:prstGeom prst="ellipse">
            <a:avLst/>
          </a:prstGeom>
          <a:solidFill>
            <a:srgbClr val="BE185D"/>
          </a:solidFill>
          <a:ln w="12700">
            <a:solidFill>
              <a:srgbClr val="BE185D"/>
            </a:solidFill>
            <a:prstDash val="solid"/>
          </a:ln>
        </p:spPr>
      </p:sp>
      <p:pic>
        <p:nvPicPr>
          <p:cNvPr id="8" name="Icono Encontrar profesionales" descr="Icono Encontrar profesionales">    </p:cNvPr>
          <p:cNvPicPr>
            <a:picLocks noChangeAspect="1"/>
          </p:cNvPicPr>
          <p:nvPr/>
        </p:nvPicPr>
        <p:blipFill>
          <a:blip r:embed="rId2"/>
          <a:stretch>
            <a:fillRect/>
          </a:stretch>
        </p:blipFill>
        <p:spPr>
          <a:xfrm>
            <a:off x="1577340" y="2903220"/>
            <a:ext cx="320040" cy="320040"/>
          </a:xfrm>
          <a:prstGeom prst="rect">
            <a:avLst/>
          </a:prstGeom>
        </p:spPr>
      </p:pic>
      <p:sp>
        <p:nvSpPr>
          <p:cNvPr id="9" name="Paso demo 1"/>
          <p:cNvSpPr txBox="1"/>
          <p:nvPr/>
        </p:nvSpPr>
        <p:spPr>
          <a:xfrm>
            <a:off x="640080" y="3520440"/>
            <a:ext cx="2194560" cy="731520"/>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Encontrar profesionales</a:t>
            </a:r>
            <a:endParaRPr lang="en-US" sz="1800" dirty="0"/>
          </a:p>
        </p:txBody>
      </p:sp>
      <p:sp>
        <p:nvSpPr>
          <p:cNvPr id="10" name="Tarjeta paso 2"/>
          <p:cNvSpPr/>
          <p:nvPr/>
        </p:nvSpPr>
        <p:spPr>
          <a:xfrm>
            <a:off x="3291840" y="2560320"/>
            <a:ext cx="2560320" cy="1828800"/>
          </a:xfrm>
          <a:prstGeom prst="roundRect">
            <a:avLst>
              <a:gd name="adj" fmla="val 6000"/>
            </a:avLst>
          </a:prstGeom>
          <a:solidFill>
            <a:srgbClr val="1E3A8A"/>
          </a:solidFill>
          <a:ln w="12700">
            <a:solidFill>
              <a:srgbClr val="3B5BB5"/>
            </a:solidFill>
            <a:prstDash val="solid"/>
          </a:ln>
        </p:spPr>
      </p:sp>
      <p:sp>
        <p:nvSpPr>
          <p:cNvPr id="11" name="Icono Filtrar por servicio o barrio fondo"/>
          <p:cNvSpPr/>
          <p:nvPr/>
        </p:nvSpPr>
        <p:spPr>
          <a:xfrm>
            <a:off x="4251960" y="2743200"/>
            <a:ext cx="640080" cy="640080"/>
          </a:xfrm>
          <a:prstGeom prst="ellipse">
            <a:avLst/>
          </a:prstGeom>
          <a:solidFill>
            <a:srgbClr val="BE185D"/>
          </a:solidFill>
          <a:ln w="12700">
            <a:solidFill>
              <a:srgbClr val="BE185D"/>
            </a:solidFill>
            <a:prstDash val="solid"/>
          </a:ln>
        </p:spPr>
      </p:sp>
      <p:pic>
        <p:nvPicPr>
          <p:cNvPr id="12" name="Icono Filtrar por servicio o barrio" descr="Icono Filtrar por servicio o barrio">    </p:cNvPr>
          <p:cNvPicPr>
            <a:picLocks noChangeAspect="1"/>
          </p:cNvPicPr>
          <p:nvPr/>
        </p:nvPicPr>
        <p:blipFill>
          <a:blip r:embed="rId3"/>
          <a:stretch>
            <a:fillRect/>
          </a:stretch>
        </p:blipFill>
        <p:spPr>
          <a:xfrm>
            <a:off x="4411980" y="2903220"/>
            <a:ext cx="320040" cy="320040"/>
          </a:xfrm>
          <a:prstGeom prst="rect">
            <a:avLst/>
          </a:prstGeom>
        </p:spPr>
      </p:pic>
      <p:sp>
        <p:nvSpPr>
          <p:cNvPr id="13" name="Paso demo 2"/>
          <p:cNvSpPr txBox="1"/>
          <p:nvPr/>
        </p:nvSpPr>
        <p:spPr>
          <a:xfrm>
            <a:off x="3474720" y="3520440"/>
            <a:ext cx="2194560" cy="731520"/>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Filtrar por servicio o barrio</a:t>
            </a:r>
            <a:endParaRPr lang="en-US" sz="1800" dirty="0"/>
          </a:p>
        </p:txBody>
      </p:sp>
      <p:sp>
        <p:nvSpPr>
          <p:cNvPr id="14" name="Tarjeta paso 3"/>
          <p:cNvSpPr/>
          <p:nvPr/>
        </p:nvSpPr>
        <p:spPr>
          <a:xfrm>
            <a:off x="6126480" y="2560320"/>
            <a:ext cx="2560320" cy="1828800"/>
          </a:xfrm>
          <a:prstGeom prst="roundRect">
            <a:avLst>
              <a:gd name="adj" fmla="val 6000"/>
            </a:avLst>
          </a:prstGeom>
          <a:solidFill>
            <a:srgbClr val="1E3A8A"/>
          </a:solidFill>
          <a:ln w="12700">
            <a:solidFill>
              <a:srgbClr val="3B5BB5"/>
            </a:solidFill>
            <a:prstDash val="solid"/>
          </a:ln>
        </p:spPr>
      </p:sp>
      <p:sp>
        <p:nvSpPr>
          <p:cNvPr id="15" name="Icono Completar una solicitud fondo"/>
          <p:cNvSpPr/>
          <p:nvPr/>
        </p:nvSpPr>
        <p:spPr>
          <a:xfrm>
            <a:off x="7086600" y="2743200"/>
            <a:ext cx="640080" cy="640080"/>
          </a:xfrm>
          <a:prstGeom prst="ellipse">
            <a:avLst/>
          </a:prstGeom>
          <a:solidFill>
            <a:srgbClr val="BE185D"/>
          </a:solidFill>
          <a:ln w="12700">
            <a:solidFill>
              <a:srgbClr val="BE185D"/>
            </a:solidFill>
            <a:prstDash val="solid"/>
          </a:ln>
        </p:spPr>
      </p:sp>
      <p:pic>
        <p:nvPicPr>
          <p:cNvPr id="16" name="Icono Completar una solicitud" descr="Icono Completar una solicitud">    </p:cNvPr>
          <p:cNvPicPr>
            <a:picLocks noChangeAspect="1"/>
          </p:cNvPicPr>
          <p:nvPr/>
        </p:nvPicPr>
        <p:blipFill>
          <a:blip r:embed="rId4"/>
          <a:stretch>
            <a:fillRect/>
          </a:stretch>
        </p:blipFill>
        <p:spPr>
          <a:xfrm>
            <a:off x="7246620" y="2903220"/>
            <a:ext cx="320040" cy="320040"/>
          </a:xfrm>
          <a:prstGeom prst="rect">
            <a:avLst/>
          </a:prstGeom>
        </p:spPr>
      </p:pic>
      <p:sp>
        <p:nvSpPr>
          <p:cNvPr id="17" name="Paso demo 3"/>
          <p:cNvSpPr txBox="1"/>
          <p:nvPr/>
        </p:nvSpPr>
        <p:spPr>
          <a:xfrm>
            <a:off x="6309360" y="3520440"/>
            <a:ext cx="2194560" cy="731520"/>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Completar una solicitud</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7D2F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275E"/>
                </a:solidFill>
                <a:latin typeface="Calibri" pitchFamily="34" charset="0"/>
                <a:ea typeface="Calibri" pitchFamily="34" charset="-122"/>
                <a:cs typeface="Calibri" pitchFamily="34" charset="-120"/>
              </a:rPr>
              <a:t>Qué hay hoy y qué viene después</a:t>
            </a:r>
            <a:endParaRPr lang="en-US" sz="3200" dirty="0"/>
          </a:p>
        </p:txBody>
      </p:sp>
      <p:sp>
        <p:nvSpPr>
          <p:cNvPr id="3" name="Tarjeta Ya funciona"/>
          <p:cNvSpPr/>
          <p:nvPr/>
        </p:nvSpPr>
        <p:spPr>
          <a:xfrm>
            <a:off x="457200" y="1188720"/>
            <a:ext cx="4023360" cy="2926080"/>
          </a:xfrm>
          <a:prstGeom prst="roundRect">
            <a:avLst>
              <a:gd name="adj" fmla="val 3750"/>
            </a:avLst>
          </a:prstGeom>
          <a:solidFill>
            <a:srgbClr val="F4F6FA"/>
          </a:solidFill>
          <a:ln w="9525">
            <a:solidFill>
              <a:srgbClr val="D9DEE8"/>
            </a:solidFill>
            <a:prstDash val="solid"/>
          </a:ln>
        </p:spPr>
      </p:sp>
      <p:sp>
        <p:nvSpPr>
          <p:cNvPr id="4" name="Título Ya funciona"/>
          <p:cNvSpPr txBox="1"/>
          <p:nvPr/>
        </p:nvSpPr>
        <p:spPr>
          <a:xfrm>
            <a:off x="731520" y="1298448"/>
            <a:ext cx="3474720" cy="502920"/>
          </a:xfrm>
          <a:prstGeom prst="rect">
            <a:avLst/>
          </a:prstGeom>
          <a:noFill/>
          <a:ln/>
        </p:spPr>
        <p:txBody>
          <a:bodyPr wrap="square" lIns="0" tIns="0" rIns="0" bIns="0" rtlCol="0" anchor="ctr"/>
          <a:lstStyle/>
          <a:p>
            <a:pPr indent="0" marL="0">
              <a:buNone/>
            </a:pPr>
            <a:r>
              <a:rPr lang="en-US" sz="2000" b="1" dirty="0">
                <a:solidFill>
                  <a:srgbClr val="0F766E"/>
                </a:solidFill>
                <a:latin typeface="Calibri" pitchFamily="34" charset="0"/>
                <a:ea typeface="Calibri" pitchFamily="34" charset="-122"/>
                <a:cs typeface="Calibri" pitchFamily="34" charset="-120"/>
              </a:rPr>
              <a:t>Ya funciona</a:t>
            </a:r>
            <a:endParaRPr lang="en-US" sz="2000" dirty="0"/>
          </a:p>
        </p:txBody>
      </p:sp>
      <p:pic>
        <p:nvPicPr>
          <p:cNvPr id="5" name="Icono Ya funciona 1" descr="Ya funciona">    </p:cNvPr>
          <p:cNvPicPr>
            <a:picLocks noChangeAspect="1"/>
          </p:cNvPicPr>
          <p:nvPr/>
        </p:nvPicPr>
        <p:blipFill>
          <a:blip r:embed="rId1"/>
          <a:stretch>
            <a:fillRect/>
          </a:stretch>
        </p:blipFill>
        <p:spPr>
          <a:xfrm>
            <a:off x="731520" y="1993392"/>
            <a:ext cx="237744" cy="237744"/>
          </a:xfrm>
          <a:prstGeom prst="rect">
            <a:avLst/>
          </a:prstGeom>
        </p:spPr>
      </p:pic>
      <p:sp>
        <p:nvSpPr>
          <p:cNvPr id="6" name="Ya funciona 1"/>
          <p:cNvSpPr txBox="1"/>
          <p:nvPr/>
        </p:nvSpPr>
        <p:spPr>
          <a:xfrm>
            <a:off x="1097280" y="1920240"/>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Listado de profesionales</a:t>
            </a:r>
            <a:endParaRPr lang="en-US" sz="1600" dirty="0"/>
          </a:p>
        </p:txBody>
      </p:sp>
      <p:pic>
        <p:nvPicPr>
          <p:cNvPr id="7" name="Icono Ya funciona 2" descr="Ya funciona">    </p:cNvPr>
          <p:cNvPicPr>
            <a:picLocks noChangeAspect="1"/>
          </p:cNvPicPr>
          <p:nvPr/>
        </p:nvPicPr>
        <p:blipFill>
          <a:blip r:embed="rId2"/>
          <a:stretch>
            <a:fillRect/>
          </a:stretch>
        </p:blipFill>
        <p:spPr>
          <a:xfrm>
            <a:off x="731520" y="2423160"/>
            <a:ext cx="237744" cy="237744"/>
          </a:xfrm>
          <a:prstGeom prst="rect">
            <a:avLst/>
          </a:prstGeom>
        </p:spPr>
      </p:pic>
      <p:sp>
        <p:nvSpPr>
          <p:cNvPr id="8" name="Ya funciona 2"/>
          <p:cNvSpPr txBox="1"/>
          <p:nvPr/>
        </p:nvSpPr>
        <p:spPr>
          <a:xfrm>
            <a:off x="1097280" y="2350008"/>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Filtros por servicio y barrio</a:t>
            </a:r>
            <a:endParaRPr lang="en-US" sz="1600" dirty="0"/>
          </a:p>
        </p:txBody>
      </p:sp>
      <p:pic>
        <p:nvPicPr>
          <p:cNvPr id="9" name="Icono Ya funciona 3" descr="Ya funciona">    </p:cNvPr>
          <p:cNvPicPr>
            <a:picLocks noChangeAspect="1"/>
          </p:cNvPicPr>
          <p:nvPr/>
        </p:nvPicPr>
        <p:blipFill>
          <a:blip r:embed="rId3"/>
          <a:stretch>
            <a:fillRect/>
          </a:stretch>
        </p:blipFill>
        <p:spPr>
          <a:xfrm>
            <a:off x="731520" y="2852928"/>
            <a:ext cx="237744" cy="237744"/>
          </a:xfrm>
          <a:prstGeom prst="rect">
            <a:avLst/>
          </a:prstGeom>
        </p:spPr>
      </p:pic>
      <p:sp>
        <p:nvSpPr>
          <p:cNvPr id="10" name="Ya funciona 3"/>
          <p:cNvSpPr txBox="1"/>
          <p:nvPr/>
        </p:nvSpPr>
        <p:spPr>
          <a:xfrm>
            <a:off x="1097280" y="2779776"/>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Solicitudes con validación</a:t>
            </a:r>
            <a:endParaRPr lang="en-US" sz="1600" dirty="0"/>
          </a:p>
        </p:txBody>
      </p:sp>
      <p:pic>
        <p:nvPicPr>
          <p:cNvPr id="11" name="Icono Ya funciona 4" descr="Ya funciona">    </p:cNvPr>
          <p:cNvPicPr>
            <a:picLocks noChangeAspect="1"/>
          </p:cNvPicPr>
          <p:nvPr/>
        </p:nvPicPr>
        <p:blipFill>
          <a:blip r:embed="rId4"/>
          <a:stretch>
            <a:fillRect/>
          </a:stretch>
        </p:blipFill>
        <p:spPr>
          <a:xfrm>
            <a:off x="731520" y="3282696"/>
            <a:ext cx="237744" cy="237744"/>
          </a:xfrm>
          <a:prstGeom prst="rect">
            <a:avLst/>
          </a:prstGeom>
        </p:spPr>
      </p:pic>
      <p:sp>
        <p:nvSpPr>
          <p:cNvPr id="12" name="Ya funciona 4"/>
          <p:cNvSpPr txBox="1"/>
          <p:nvPr/>
        </p:nvSpPr>
        <p:spPr>
          <a:xfrm>
            <a:off x="1097280" y="3209544"/>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Guardado en base de datos</a:t>
            </a:r>
            <a:endParaRPr lang="en-US" sz="1600" dirty="0"/>
          </a:p>
        </p:txBody>
      </p:sp>
      <p:sp>
        <p:nvSpPr>
          <p:cNvPr id="13" name="Tarjeta Próximas mejoras"/>
          <p:cNvSpPr/>
          <p:nvPr/>
        </p:nvSpPr>
        <p:spPr>
          <a:xfrm>
            <a:off x="4663440" y="1188720"/>
            <a:ext cx="4023360" cy="2926080"/>
          </a:xfrm>
          <a:prstGeom prst="roundRect">
            <a:avLst>
              <a:gd name="adj" fmla="val 3750"/>
            </a:avLst>
          </a:prstGeom>
          <a:solidFill>
            <a:srgbClr val="F4F6FA"/>
          </a:solidFill>
          <a:ln w="9525">
            <a:solidFill>
              <a:srgbClr val="D9DEE8"/>
            </a:solidFill>
            <a:prstDash val="solid"/>
          </a:ln>
        </p:spPr>
      </p:sp>
      <p:sp>
        <p:nvSpPr>
          <p:cNvPr id="14" name="Título Próximas mejoras"/>
          <p:cNvSpPr txBox="1"/>
          <p:nvPr/>
        </p:nvSpPr>
        <p:spPr>
          <a:xfrm>
            <a:off x="4937760" y="1298448"/>
            <a:ext cx="3474720" cy="502920"/>
          </a:xfrm>
          <a:prstGeom prst="rect">
            <a:avLst/>
          </a:prstGeom>
          <a:noFill/>
          <a:ln/>
        </p:spPr>
        <p:txBody>
          <a:bodyPr wrap="square" lIns="0" tIns="0" rIns="0" bIns="0" rtlCol="0" anchor="ctr"/>
          <a:lstStyle/>
          <a:p>
            <a:pPr indent="0" marL="0">
              <a:buNone/>
            </a:pPr>
            <a:r>
              <a:rPr lang="en-US" sz="2000" b="1" dirty="0">
                <a:solidFill>
                  <a:srgbClr val="BE185D"/>
                </a:solidFill>
                <a:latin typeface="Calibri" pitchFamily="34" charset="0"/>
                <a:ea typeface="Calibri" pitchFamily="34" charset="-122"/>
                <a:cs typeface="Calibri" pitchFamily="34" charset="-120"/>
              </a:rPr>
              <a:t>Próximas mejoras</a:t>
            </a:r>
            <a:endParaRPr lang="en-US" sz="2000" dirty="0"/>
          </a:p>
        </p:txBody>
      </p:sp>
      <p:pic>
        <p:nvPicPr>
          <p:cNvPr id="15" name="Icono Próximas mejoras 1" descr="Próximas mejoras">    </p:cNvPr>
          <p:cNvPicPr>
            <a:picLocks noChangeAspect="1"/>
          </p:cNvPicPr>
          <p:nvPr/>
        </p:nvPicPr>
        <p:blipFill>
          <a:blip r:embed="rId5"/>
          <a:stretch>
            <a:fillRect/>
          </a:stretch>
        </p:blipFill>
        <p:spPr>
          <a:xfrm>
            <a:off x="4937760" y="1993392"/>
            <a:ext cx="237744" cy="237744"/>
          </a:xfrm>
          <a:prstGeom prst="rect">
            <a:avLst/>
          </a:prstGeom>
        </p:spPr>
      </p:pic>
      <p:sp>
        <p:nvSpPr>
          <p:cNvPr id="16" name="Próximas mejoras 1"/>
          <p:cNvSpPr txBox="1"/>
          <p:nvPr/>
        </p:nvSpPr>
        <p:spPr>
          <a:xfrm>
            <a:off x="5303520" y="1920240"/>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Cuentas de usuario</a:t>
            </a:r>
            <a:endParaRPr lang="en-US" sz="1600" dirty="0"/>
          </a:p>
        </p:txBody>
      </p:sp>
      <p:pic>
        <p:nvPicPr>
          <p:cNvPr id="17" name="Icono Próximas mejoras 2" descr="Próximas mejoras">    </p:cNvPr>
          <p:cNvPicPr>
            <a:picLocks noChangeAspect="1"/>
          </p:cNvPicPr>
          <p:nvPr/>
        </p:nvPicPr>
        <p:blipFill>
          <a:blip r:embed="rId6"/>
          <a:stretch>
            <a:fillRect/>
          </a:stretch>
        </p:blipFill>
        <p:spPr>
          <a:xfrm>
            <a:off x="4937760" y="2423160"/>
            <a:ext cx="237744" cy="237744"/>
          </a:xfrm>
          <a:prstGeom prst="rect">
            <a:avLst/>
          </a:prstGeom>
        </p:spPr>
      </p:pic>
      <p:sp>
        <p:nvSpPr>
          <p:cNvPr id="18" name="Próximas mejoras 2"/>
          <p:cNvSpPr txBox="1"/>
          <p:nvPr/>
        </p:nvSpPr>
        <p:spPr>
          <a:xfrm>
            <a:off x="5303520" y="2350008"/>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Panel para profesionales</a:t>
            </a:r>
            <a:endParaRPr lang="en-US" sz="1600" dirty="0"/>
          </a:p>
        </p:txBody>
      </p:sp>
      <p:pic>
        <p:nvPicPr>
          <p:cNvPr id="19" name="Icono Próximas mejoras 3" descr="Próximas mejoras">    </p:cNvPr>
          <p:cNvPicPr>
            <a:picLocks noChangeAspect="1"/>
          </p:cNvPicPr>
          <p:nvPr/>
        </p:nvPicPr>
        <p:blipFill>
          <a:blip r:embed="rId7"/>
          <a:stretch>
            <a:fillRect/>
          </a:stretch>
        </p:blipFill>
        <p:spPr>
          <a:xfrm>
            <a:off x="4937760" y="2852928"/>
            <a:ext cx="237744" cy="237744"/>
          </a:xfrm>
          <a:prstGeom prst="rect">
            <a:avLst/>
          </a:prstGeom>
        </p:spPr>
      </p:pic>
      <p:sp>
        <p:nvSpPr>
          <p:cNvPr id="20" name="Próximas mejoras 3"/>
          <p:cNvSpPr txBox="1"/>
          <p:nvPr/>
        </p:nvSpPr>
        <p:spPr>
          <a:xfrm>
            <a:off x="5303520" y="2779776"/>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Gestión de solicitudes</a:t>
            </a:r>
            <a:endParaRPr lang="en-US" sz="1600" dirty="0"/>
          </a:p>
        </p:txBody>
      </p:sp>
      <p:pic>
        <p:nvPicPr>
          <p:cNvPr id="21" name="Icono Próximas mejoras 4" descr="Próximas mejoras">    </p:cNvPr>
          <p:cNvPicPr>
            <a:picLocks noChangeAspect="1"/>
          </p:cNvPicPr>
          <p:nvPr/>
        </p:nvPicPr>
        <p:blipFill>
          <a:blip r:embed="rId8"/>
          <a:stretch>
            <a:fillRect/>
          </a:stretch>
        </p:blipFill>
        <p:spPr>
          <a:xfrm>
            <a:off x="4937760" y="3282696"/>
            <a:ext cx="237744" cy="237744"/>
          </a:xfrm>
          <a:prstGeom prst="rect">
            <a:avLst/>
          </a:prstGeom>
        </p:spPr>
      </p:pic>
      <p:sp>
        <p:nvSpPr>
          <p:cNvPr id="22" name="Próximas mejoras 4"/>
          <p:cNvSpPr txBox="1"/>
          <p:nvPr/>
        </p:nvSpPr>
        <p:spPr>
          <a:xfrm>
            <a:off x="5303520" y="3209544"/>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Reseñas reales</a:t>
            </a:r>
            <a:endParaRPr lang="en-US" sz="1600" dirty="0"/>
          </a:p>
        </p:txBody>
      </p:sp>
      <p:pic>
        <p:nvPicPr>
          <p:cNvPr id="23" name="Icono Próximas mejoras 5" descr="Próximas mejoras">    </p:cNvPr>
          <p:cNvPicPr>
            <a:picLocks noChangeAspect="1"/>
          </p:cNvPicPr>
          <p:nvPr/>
        </p:nvPicPr>
        <p:blipFill>
          <a:blip r:embed="rId9"/>
          <a:stretch>
            <a:fillRect/>
          </a:stretch>
        </p:blipFill>
        <p:spPr>
          <a:xfrm>
            <a:off x="4937760" y="3712464"/>
            <a:ext cx="237744" cy="237744"/>
          </a:xfrm>
          <a:prstGeom prst="rect">
            <a:avLst/>
          </a:prstGeom>
        </p:spPr>
      </p:pic>
      <p:sp>
        <p:nvSpPr>
          <p:cNvPr id="24" name="Próximas mejoras 5"/>
          <p:cNvSpPr txBox="1"/>
          <p:nvPr/>
        </p:nvSpPr>
        <p:spPr>
          <a:xfrm>
            <a:off x="5303520" y="3639312"/>
            <a:ext cx="3200400" cy="38404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Historial y pagos</a:t>
            </a:r>
            <a:endParaRPr lang="en-US" sz="1600" dirty="0"/>
          </a:p>
        </p:txBody>
      </p:sp>
      <p:sp>
        <p:nvSpPr>
          <p:cNvPr id="25" name="Nota datos de ejemplo"/>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400" i="1" dirty="0">
                <a:solidFill>
                  <a:srgbClr val="4B5563"/>
                </a:solidFill>
                <a:latin typeface="Calibri" pitchFamily="34" charset="0"/>
                <a:ea typeface="Calibri" pitchFamily="34" charset="-122"/>
                <a:cs typeface="Calibri" pitchFamily="34" charset="-120"/>
              </a:rPr>
              <a:t>Los perfiles y las valoraciones de esta versión son datos de ejemplo.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56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Conclusión</a:t>
            </a:r>
            <a:endParaRPr lang="en-US" sz="3200" dirty="0"/>
          </a:p>
        </p:txBody>
      </p:sp>
      <p:sp>
        <p:nvSpPr>
          <p:cNvPr id="3" name="Idea central"/>
          <p:cNvSpPr txBox="1"/>
          <p:nvPr/>
        </p:nvSpPr>
        <p:spPr>
          <a:xfrm>
            <a:off x="457200" y="1371600"/>
            <a:ext cx="4389120" cy="15544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Un recorrido completo: de la búsqueda al pedido guardado</a:t>
            </a:r>
            <a:endParaRPr lang="en-US" sz="2800" dirty="0"/>
          </a:p>
        </p:txBody>
      </p:sp>
      <p:sp>
        <p:nvSpPr>
          <p:cNvPr id="4" name="Icono equipo fondo"/>
          <p:cNvSpPr/>
          <p:nvPr/>
        </p:nvSpPr>
        <p:spPr>
          <a:xfrm>
            <a:off x="457200" y="3246120"/>
            <a:ext cx="640080" cy="640080"/>
          </a:xfrm>
          <a:prstGeom prst="ellipse">
            <a:avLst/>
          </a:prstGeom>
          <a:solidFill>
            <a:srgbClr val="DBEAFE"/>
          </a:solidFill>
          <a:ln w="12700">
            <a:solidFill>
              <a:srgbClr val="DBEAFE"/>
            </a:solidFill>
            <a:prstDash val="solid"/>
          </a:ln>
        </p:spPr>
      </p:sp>
      <p:pic>
        <p:nvPicPr>
          <p:cNvPr id="5" name="Icono equipo" descr="Icono equipo">    </p:cNvPr>
          <p:cNvPicPr>
            <a:picLocks noChangeAspect="1"/>
          </p:cNvPicPr>
          <p:nvPr/>
        </p:nvPicPr>
        <p:blipFill>
          <a:blip r:embed="rId1"/>
          <a:stretch>
            <a:fillRect/>
          </a:stretch>
        </p:blipFill>
        <p:spPr>
          <a:xfrm>
            <a:off x="617220" y="3406140"/>
            <a:ext cx="320040" cy="320040"/>
          </a:xfrm>
          <a:prstGeom prst="rect">
            <a:avLst/>
          </a:prstGeom>
        </p:spPr>
      </p:pic>
      <p:sp>
        <p:nvSpPr>
          <p:cNvPr id="6" name="Equipo"/>
          <p:cNvSpPr txBox="1"/>
          <p:nvPr/>
        </p:nvSpPr>
        <p:spPr>
          <a:xfrm>
            <a:off x="1280160" y="3200400"/>
            <a:ext cx="3566160" cy="777240"/>
          </a:xfrm>
          <a:prstGeom prst="rect">
            <a:avLst/>
          </a:prstGeom>
          <a:noFill/>
          <a:ln/>
        </p:spPr>
        <p:txBody>
          <a:bodyPr wrap="square" lIns="0" tIns="0" rIns="0" bIns="0" rtlCol="0" anchor="ctr"/>
          <a:lstStyle/>
          <a:p>
            <a:pPr indent="0" marL="0">
              <a:buNone/>
            </a:pPr>
            <a:r>
              <a:rPr lang="en-US" sz="1600" dirty="0">
                <a:solidFill>
                  <a:srgbClr val="DBEAFE"/>
                </a:solidFill>
                <a:latin typeface="Calibri" pitchFamily="34" charset="0"/>
                <a:ea typeface="Calibri" pitchFamily="34" charset="-122"/>
                <a:cs typeface="Calibri" pitchFamily="34" charset="-120"/>
              </a:rPr>
              <a:t>Hecho en equipo: Nicolás en la interfaz web, Daniel en el servidor y los datos</a:t>
            </a:r>
            <a:endParaRPr lang="en-US" sz="1600" dirty="0"/>
          </a:p>
        </p:txBody>
      </p:sp>
      <p:sp>
        <p:nvSpPr>
          <p:cNvPr id="7" name="Pregunta fondo"/>
          <p:cNvSpPr/>
          <p:nvPr/>
        </p:nvSpPr>
        <p:spPr>
          <a:xfrm>
            <a:off x="5212080" y="1280160"/>
            <a:ext cx="3474720" cy="2743200"/>
          </a:xfrm>
          <a:prstGeom prst="roundRect">
            <a:avLst>
              <a:gd name="adj" fmla="val 5000"/>
            </a:avLst>
          </a:prstGeom>
          <a:solidFill>
            <a:srgbClr val="FFFFFF"/>
          </a:solidFill>
          <a:ln w="12700">
            <a:solidFill>
              <a:srgbClr val="FFFFFF"/>
            </a:solidFill>
            <a:prstDash val="solid"/>
          </a:ln>
        </p:spPr>
      </p:sp>
      <p:sp>
        <p:nvSpPr>
          <p:cNvPr id="8" name="Etiqueta pregunta"/>
          <p:cNvSpPr txBox="1"/>
          <p:nvPr/>
        </p:nvSpPr>
        <p:spPr>
          <a:xfrm>
            <a:off x="5440680" y="1463040"/>
            <a:ext cx="3017520" cy="274320"/>
          </a:xfrm>
          <a:prstGeom prst="rect">
            <a:avLst/>
          </a:prstGeom>
          <a:noFill/>
          <a:ln/>
        </p:spPr>
        <p:txBody>
          <a:bodyPr wrap="square" lIns="0" tIns="0" rIns="0" bIns="0" rtlCol="0" anchor="ctr"/>
          <a:lstStyle/>
          <a:p>
            <a:pPr indent="0" marL="0">
              <a:buNone/>
            </a:pPr>
            <a:r>
              <a:rPr lang="en-US" sz="1200" b="1" spc="300" kern="0" dirty="0">
                <a:solidFill>
                  <a:srgbClr val="BE185D"/>
                </a:solidFill>
                <a:latin typeface="Calibri" pitchFamily="34" charset="0"/>
                <a:ea typeface="Calibri" pitchFamily="34" charset="-122"/>
                <a:cs typeface="Calibri" pitchFamily="34" charset="-120"/>
              </a:rPr>
              <a:t>PARA USTEDES</a:t>
            </a:r>
            <a:endParaRPr lang="en-US" sz="1200" dirty="0"/>
          </a:p>
        </p:txBody>
      </p:sp>
      <p:sp>
        <p:nvSpPr>
          <p:cNvPr id="9" name="Pregunta"/>
          <p:cNvSpPr txBox="1"/>
          <p:nvPr/>
        </p:nvSpPr>
        <p:spPr>
          <a:xfrm>
            <a:off x="5440680" y="1828800"/>
            <a:ext cx="3017520" cy="1463040"/>
          </a:xfrm>
          <a:prstGeom prst="rect">
            <a:avLst/>
          </a:prstGeom>
          <a:noFill/>
          <a:ln/>
        </p:spPr>
        <p:txBody>
          <a:bodyPr wrap="square" lIns="0" tIns="0" rIns="0" bIns="0" rtlCol="0" anchor="t"/>
          <a:lstStyle/>
          <a:p>
            <a:pPr indent="0" marL="0">
              <a:buNone/>
            </a:pPr>
            <a:r>
              <a:rPr lang="en-US" sz="2000" b="1" dirty="0">
                <a:solidFill>
                  <a:srgbClr val="14275E"/>
                </a:solidFill>
                <a:latin typeface="Calibri" pitchFamily="34" charset="0"/>
                <a:ea typeface="Calibri" pitchFamily="34" charset="-122"/>
                <a:cs typeface="Calibri" pitchFamily="34" charset="-120"/>
              </a:rPr>
              <a:t>¿Qué función añadirían primero para que ConectaPro pudiera usarse con clientes reales?</a:t>
            </a:r>
            <a:endParaRPr lang="en-US" sz="2000" dirty="0"/>
          </a:p>
        </p:txBody>
      </p:sp>
      <p:sp>
        <p:nvSpPr>
          <p:cNvPr id="10" name="Gracias"/>
          <p:cNvSpPr txBox="1"/>
          <p:nvPr/>
        </p:nvSpPr>
        <p:spPr>
          <a:xfrm>
            <a:off x="5440680" y="3383280"/>
            <a:ext cx="3017520" cy="457200"/>
          </a:xfrm>
          <a:prstGeom prst="rect">
            <a:avLst/>
          </a:prstGeom>
          <a:noFill/>
          <a:ln/>
        </p:spPr>
        <p:txBody>
          <a:bodyPr wrap="square" lIns="0" tIns="0" rIns="0" bIns="0" rtlCol="0" anchor="ctr"/>
          <a:lstStyle/>
          <a:p>
            <a:pPr indent="0" marL="0">
              <a:buNone/>
            </a:pPr>
            <a:r>
              <a:rPr lang="en-US" sz="2200" b="1" dirty="0">
                <a:solidFill>
                  <a:srgbClr val="1D4ED8"/>
                </a:solidFill>
                <a:latin typeface="Calibri" pitchFamily="34" charset="0"/>
                <a:ea typeface="Calibri" pitchFamily="34" charset="-122"/>
                <a:cs typeface="Calibri" pitchFamily="34" charset="-120"/>
              </a:rPr>
              <a:t>¡Gracias!</a:t>
            </a:r>
            <a:endParaRPr lang="en-US" sz="2200" dirty="0"/>
          </a:p>
        </p:txBody>
      </p:sp>
      <p:sp>
        <p:nvSpPr>
          <p:cNvPr id="11" name="Repositorio"/>
          <p:cNvSpPr txBox="1"/>
          <p:nvPr/>
        </p:nvSpPr>
        <p:spPr>
          <a:xfrm>
            <a:off x="457200" y="4343400"/>
            <a:ext cx="5486400" cy="274320"/>
          </a:xfrm>
          <a:prstGeom prst="rect">
            <a:avLst/>
          </a:prstGeom>
          <a:noFill/>
          <a:ln/>
        </p:spPr>
        <p:txBody>
          <a:bodyPr wrap="square" lIns="0" tIns="0" rIns="0" bIns="0" rtlCol="0" anchor="ctr"/>
          <a:lstStyle/>
          <a:p>
            <a:pPr indent="0" marL="0">
              <a:buNone/>
            </a:pPr>
            <a:r>
              <a:rPr lang="en-US" sz="1200" u="sng" dirty="0">
                <a:solidFill>
                  <a:srgbClr val="BFDBFE"/>
                </a:solidFill>
                <a:latin typeface="Calibri" pitchFamily="34" charset="0"/>
                <a:ea typeface="Calibri" pitchFamily="34" charset="-122"/>
                <a:cs typeface="Calibri" pitchFamily="34" charset="-120"/>
                <a:hlinkClick r:id="rId2" invalidUrl="" action="" tgtFrame="" tooltip="Repositorio en GitHub" history="1" highlightClick="0" endSnd="0">
                  <a:extLst>
                    <a:ext uri="{A12FA001-AC4F-418D-AE19-62706E023703}">
                      <ahyp:hlinkClr xmlns:ahyp="http://schemas.microsoft.com/office/drawing/2018/hyperlinkcolor" val="tx"/>
                    </a:ext>
                  </a:extLst>
                </a:hlinkClick>
              </a:rPr>
              <a:t>https://github.com/Nick-Waschbaer/ConectaPro</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7D2F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onectaPro">
  <a:themeElements>
    <a:clrScheme name="ConectaPro">
      <a:dk1>
        <a:srgbClr val="1F2937"/>
      </a:dk1>
      <a:lt1>
        <a:srgbClr val="FFFFFF"/>
      </a:lt1>
      <a:dk2>
        <a:srgbClr val="14275E"/>
      </a:dk2>
      <a:lt2>
        <a:srgbClr val="F4F6FA"/>
      </a:lt2>
      <a:accent1>
        <a:srgbClr val="1D4ED8"/>
      </a:accent1>
      <a:accent2>
        <a:srgbClr val="BE185D"/>
      </a:accent2>
      <a:accent3>
        <a:srgbClr val="0F766E"/>
      </a:accent3>
      <a:accent4>
        <a:srgbClr val="92400E"/>
      </a:accent4>
      <a:accent5>
        <a:srgbClr val="64748B"/>
      </a:accent5>
      <a:accent6>
        <a:srgbClr val="93C5FD"/>
      </a:accent6>
      <a:hlink>
        <a:srgbClr val="BFDBFE"/>
      </a:hlink>
      <a:folHlink>
        <a:srgbClr val="C4B5FD"/>
      </a:folHlink>
    </a:clrScheme>
    <a:fontScheme name="ConectaP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ConectaPro — presentación final</dc:title>
  <dc:subject>Proyecto escolar de Despliegue Web: marketplace de servicios del hogar</dc:subject>
  <dc:creator>Nicolás y Daniel</dc:creator>
  <cp:lastModifiedBy>Nicolás y Daniel</cp:lastModifiedBy>
  <cp:revision>1</cp:revision>
  <dcterms:created xsi:type="dcterms:W3CDTF">2026-10-21T02:26:13Z</dcterms:created>
  <dcterms:modified xsi:type="dcterms:W3CDTF">2026-10-21T02:26:13Z</dcterms:modified>
</cp:coreProperties>
</file>